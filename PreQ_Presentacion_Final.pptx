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iKrOLB6qaxad7a4PsW1sbJlCBs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491c0c779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3f491c0c779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3f491c0c779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491c0c779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g3f491c0c779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g3f491c0c779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5.png"/><Relationship Id="rId5" Type="http://schemas.openxmlformats.org/officeDocument/2006/relationships/image" Target="../media/image12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6.png"/><Relationship Id="rId7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7.png"/><Relationship Id="rId8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33.jpg"/><Relationship Id="rId5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4.png"/><Relationship Id="rId4" Type="http://schemas.openxmlformats.org/officeDocument/2006/relationships/image" Target="../media/image30.png"/><Relationship Id="rId10" Type="http://schemas.openxmlformats.org/officeDocument/2006/relationships/image" Target="../media/image40.png"/><Relationship Id="rId9" Type="http://schemas.openxmlformats.org/officeDocument/2006/relationships/image" Target="../media/image46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7.png"/><Relationship Id="rId8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image" Target="../media/image7.png"/><Relationship Id="rId5" Type="http://schemas.openxmlformats.org/officeDocument/2006/relationships/image" Target="../media/image4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4.png"/><Relationship Id="rId4" Type="http://schemas.openxmlformats.org/officeDocument/2006/relationships/image" Target="../media/image55.png"/><Relationship Id="rId11" Type="http://schemas.openxmlformats.org/officeDocument/2006/relationships/image" Target="../media/image56.png"/><Relationship Id="rId10" Type="http://schemas.openxmlformats.org/officeDocument/2006/relationships/image" Target="../media/image54.png"/><Relationship Id="rId12" Type="http://schemas.openxmlformats.org/officeDocument/2006/relationships/image" Target="../media/image52.png"/><Relationship Id="rId9" Type="http://schemas.openxmlformats.org/officeDocument/2006/relationships/image" Target="../media/image51.png"/><Relationship Id="rId5" Type="http://schemas.openxmlformats.org/officeDocument/2006/relationships/image" Target="../media/image42.png"/><Relationship Id="rId6" Type="http://schemas.openxmlformats.org/officeDocument/2006/relationships/image" Target="../media/image57.png"/><Relationship Id="rId7" Type="http://schemas.openxmlformats.org/officeDocument/2006/relationships/image" Target="../media/image43.png"/><Relationship Id="rId8" Type="http://schemas.openxmlformats.org/officeDocument/2006/relationships/image" Target="../media/image5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8.png"/><Relationship Id="rId4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7711135" y="0"/>
            <a:ext cx="4480560" cy="6858000"/>
          </a:xfrm>
          <a:prstGeom prst="rect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preq_logo.png" id="17" name="Google Shape;17;p1"/>
          <p:cNvPicPr preferRelativeResize="0"/>
          <p:nvPr/>
        </p:nvPicPr>
        <p:blipFill rotWithShape="1">
          <a:blip r:embed="rId3">
            <a:alphaModFix/>
          </a:blip>
          <a:srcRect b="36063" l="20884" r="20153" t="37317"/>
          <a:stretch/>
        </p:blipFill>
        <p:spPr>
          <a:xfrm>
            <a:off x="1145250" y="1828799"/>
            <a:ext cx="5265895" cy="237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8031175" y="1828800"/>
            <a:ext cx="38404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 marca.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 precio.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Tu comunidad.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031175" y="598932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C6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F4B9C6"/>
                </a:solidFill>
                <a:latin typeface="Arial"/>
                <a:ea typeface="Arial"/>
                <a:cs typeface="Arial"/>
                <a:sym typeface="Arial"/>
              </a:rPr>
              <a:t>PreQ · Universidad Nacional de Quilmes · 202</a:t>
            </a:r>
            <a:r>
              <a:rPr lang="en-US" sz="1100">
                <a:solidFill>
                  <a:srgbClr val="F4B9C6"/>
                </a:solidFill>
              </a:rPr>
              <a:t>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55200" y="4213425"/>
            <a:ext cx="5646000" cy="237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Arial"/>
              <a:buNone/>
            </a:pPr>
            <a:r>
              <a:rPr b="1" lang="en-US" sz="2700">
                <a:solidFill>
                  <a:srgbClr val="1A1A2E"/>
                </a:solidFill>
              </a:rPr>
              <a:t>Seguimiento colaborativo de precios en Argentina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>
          <a:blip r:embed="rId4">
            <a:alphaModFix amt="25000"/>
          </a:blip>
          <a:stretch>
            <a:fillRect/>
          </a:stretch>
        </p:blipFill>
        <p:spPr>
          <a:xfrm>
            <a:off x="108288" y="97100"/>
            <a:ext cx="2641275" cy="99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MOTIVACIÓN · QUÉ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822960" y="8686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problema que resolvemos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822960" y="160020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Comprar bien en Argentina cuesta tiempo, y aun así seguimos pagando de más.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22960" y="2331720"/>
            <a:ext cx="5074920" cy="1737360"/>
          </a:xfrm>
          <a:prstGeom prst="roundRect">
            <a:avLst>
              <a:gd fmla="val 8421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1143000" y="2697480"/>
            <a:ext cx="960120" cy="9601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lock.png" id="32" name="Google Shape;3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3030" y="2937510"/>
            <a:ext cx="480060" cy="48006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2"/>
          <p:cNvSpPr/>
          <p:nvPr/>
        </p:nvSpPr>
        <p:spPr>
          <a:xfrm>
            <a:off x="2331720" y="2642616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Perdemos descuentos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331720" y="3118104"/>
            <a:ext cx="3337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Todo el tiempo se nos escapan ofertas que no llegamos a ver.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355080" y="2331720"/>
            <a:ext cx="5074920" cy="1737360"/>
          </a:xfrm>
          <a:prstGeom prst="roundRect">
            <a:avLst>
              <a:gd fmla="val 8421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6675120" y="2697480"/>
            <a:ext cx="960120" cy="9601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magnifier.png" id="37" name="Google Shape;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15150" y="2937510"/>
            <a:ext cx="480060" cy="48006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7863840" y="2642616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Comparar es lento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7863840" y="3118104"/>
            <a:ext cx="3337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Revisar precios entre vari</a:t>
            </a:r>
            <a:r>
              <a:rPr lang="en-US" sz="1300">
                <a:solidFill>
                  <a:srgbClr val="E8E8F0"/>
                </a:solidFill>
              </a:rPr>
              <a:t>os comercios</a:t>
            </a: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 es tedioso y frustrante.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822960" y="4389120"/>
            <a:ext cx="5074920" cy="1737360"/>
          </a:xfrm>
          <a:prstGeom prst="roundRect">
            <a:avLst>
              <a:gd fmla="val 8421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1143000" y="4754880"/>
            <a:ext cx="960120" cy="9601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frown.png" id="42" name="Google Shape;4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83030" y="4994910"/>
            <a:ext cx="480060" cy="48006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/>
          <p:nvPr/>
        </p:nvSpPr>
        <p:spPr>
          <a:xfrm>
            <a:off x="2331720" y="4700016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 sabemos si conviene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331720" y="5175504"/>
            <a:ext cx="3337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Cuesta saber si una oferta realmente vale la pena frente a otras.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6355080" y="4389120"/>
            <a:ext cx="5074920" cy="1737360"/>
          </a:xfrm>
          <a:prstGeom prst="roundRect">
            <a:avLst>
              <a:gd fmla="val 8421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675120" y="4754880"/>
            <a:ext cx="960120" cy="9601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tore.png" id="47" name="Google Shape;4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15150" y="4994910"/>
            <a:ext cx="480060" cy="48006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/>
          <p:nvPr/>
        </p:nvSpPr>
        <p:spPr>
          <a:xfrm>
            <a:off x="7863840" y="4700016"/>
            <a:ext cx="3337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 visión del mercado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7863840" y="5175504"/>
            <a:ext cx="3337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No hay una foto clara de dónde está el mejor precio, cerca tuyo.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MOTIVACIÓN · QUÉ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822960" y="86868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¿Por qué PreQ?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22960" y="162763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500"/>
              <a:buFont typeface="Arial"/>
              <a:buNone/>
            </a:pPr>
            <a:r>
              <a:rPr b="0" i="0" lang="en-US" sz="180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Una herramienta necesaria: hoy no existe una forma rápida, comunitaria y local de saber dónde conviene comprar.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68680" y="2514600"/>
            <a:ext cx="914400" cy="9144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amera.png" id="59" name="Google Shape;5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6424" y="275234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3"/>
          <p:cNvSpPr/>
          <p:nvPr/>
        </p:nvSpPr>
        <p:spPr>
          <a:xfrm>
            <a:off x="2011680" y="249631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Foto para identificar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011680" y="2898648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Sacás una foto del producto y PreQ lo reconoce, aún sin código de barras.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868680" y="3840480"/>
            <a:ext cx="914400" cy="9144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users.png" id="63" name="Google Shape;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6424" y="407822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2011680" y="382219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Precios de la comunidad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011680" y="4224528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Los precios los cargan y validan los propios usuarios, en tiempo real.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868680" y="5166360"/>
            <a:ext cx="914400" cy="9144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location.png" id="67" name="Google Shape;6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6424" y="5404104"/>
            <a:ext cx="438912" cy="43891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3"/>
          <p:cNvSpPr/>
          <p:nvPr/>
        </p:nvSpPr>
        <p:spPr>
          <a:xfrm>
            <a:off x="2011680" y="5148072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Precisión por ubicación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2011680" y="5550408"/>
            <a:ext cx="49377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00"/>
              <a:buFont typeface="Arial"/>
              <a:buNone/>
            </a:pPr>
            <a:r>
              <a:rPr b="0" i="0" lang="en-US" sz="150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Ves el precio real en tiendas concretas cerca tuyo, no un promedio genérico.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589520" y="2514600"/>
            <a:ext cx="3749040" cy="3566160"/>
          </a:xfrm>
          <a:prstGeom prst="roundRect">
            <a:avLst>
              <a:gd fmla="val 4615" name="adj"/>
            </a:avLst>
          </a:prstGeom>
          <a:solidFill>
            <a:srgbClr val="1A1A2E"/>
          </a:solidFill>
          <a:ln>
            <a:noFill/>
          </a:ln>
          <a:effectLst>
            <a:outerShdw blurRad="127000" rotWithShape="0" algn="bl" dir="5400000" dist="38100">
              <a:srgbClr val="1A1A2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8961083" y="2898644"/>
            <a:ext cx="1005900" cy="10059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bolt.png" id="72" name="Google Shape;7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12567" y="3177540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3"/>
          <p:cNvSpPr/>
          <p:nvPr/>
        </p:nvSpPr>
        <p:spPr>
          <a:xfrm>
            <a:off x="7909560" y="397764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500"/>
              <a:buFont typeface="Arial"/>
              <a:buNone/>
            </a:pPr>
            <a:r>
              <a:rPr b="1" i="0" lang="en-US" sz="20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El diferencial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922524" y="4415048"/>
            <a:ext cx="31089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Foto + comunidad + ubicación</a:t>
            </a:r>
            <a:endParaRPr sz="16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t/>
            </a:r>
            <a:endParaRPr sz="1600">
              <a:solidFill>
                <a:srgbClr val="FFFFFF"/>
              </a:solidFill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Ninguna app del mercado combina las tres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MOTIVACIÓN · QUÉ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Frente a la competencia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22960" y="1828800"/>
            <a:ext cx="5074920" cy="3063240"/>
          </a:xfrm>
          <a:prstGeom prst="roundRect">
            <a:avLst>
              <a:gd fmla="val 4776" name="adj"/>
            </a:avLst>
          </a:prstGeom>
          <a:solidFill>
            <a:srgbClr val="F4F4F8"/>
          </a:solidFill>
          <a:ln cap="flat" cmpd="sng" w="1270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ira.png" id="83" name="Google Shape;8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83170" y="2167128"/>
            <a:ext cx="155448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1207008" y="3200400"/>
            <a:ext cx="310896" cy="310896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85" name="Google Shape;8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960" y="3270352"/>
            <a:ext cx="170993" cy="170993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4"/>
          <p:cNvSpPr/>
          <p:nvPr/>
        </p:nvSpPr>
        <p:spPr>
          <a:xfrm>
            <a:off x="1691640" y="3154680"/>
            <a:ext cx="388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A2A38"/>
                </a:solidFill>
              </a:rPr>
              <a:t>Cobra suscripción para usarlo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1207008" y="3602736"/>
            <a:ext cx="310896" cy="310896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88" name="Google Shape;8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960" y="3672688"/>
            <a:ext cx="170993" cy="17099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4"/>
          <p:cNvSpPr/>
          <p:nvPr/>
        </p:nvSpPr>
        <p:spPr>
          <a:xfrm>
            <a:off x="1691640" y="3557016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A2A38"/>
                </a:solidFill>
              </a:rPr>
              <a:t>Faltan muchos productos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207008" y="4005072"/>
            <a:ext cx="310896" cy="310896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91" name="Google Shape;9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960" y="4075024"/>
            <a:ext cx="170993" cy="170993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1691640" y="3959352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A2A38"/>
                </a:solidFill>
              </a:rPr>
              <a:t>Features innecesarios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207008" y="4407408"/>
            <a:ext cx="310896" cy="310896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94" name="Google Shape;9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6960" y="4477360"/>
            <a:ext cx="170993" cy="170993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4"/>
          <p:cNvSpPr/>
          <p:nvPr/>
        </p:nvSpPr>
        <p:spPr>
          <a:xfrm>
            <a:off x="1691640" y="436168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Sin colaboración comunitaria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6355080" y="1828800"/>
            <a:ext cx="5074800" cy="3063300"/>
          </a:xfrm>
          <a:prstGeom prst="roundRect">
            <a:avLst>
              <a:gd fmla="val 4776" name="adj"/>
            </a:avLst>
          </a:prstGeom>
          <a:solidFill>
            <a:srgbClr val="F4F4F8"/>
          </a:solidFill>
          <a:ln cap="flat" cmpd="sng" w="1270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mouse.png" id="97" name="Google Shape;97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58190" y="2144265"/>
            <a:ext cx="868680" cy="86868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6739128" y="3200400"/>
            <a:ext cx="310896" cy="310896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99" name="Google Shape;9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9080" y="3270352"/>
            <a:ext cx="170993" cy="170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"/>
          <p:cNvSpPr/>
          <p:nvPr/>
        </p:nvSpPr>
        <p:spPr>
          <a:xfrm>
            <a:off x="7223760" y="3154680"/>
            <a:ext cx="3886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A2A38"/>
                </a:solidFill>
              </a:rPr>
              <a:t>Búsqueda 100% manual</a:t>
            </a:r>
            <a:endParaRPr sz="1350">
              <a:solidFill>
                <a:srgbClr val="2A2A38"/>
              </a:solidFill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739128" y="3602736"/>
            <a:ext cx="310896" cy="310896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102" name="Google Shape;1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9080" y="3672688"/>
            <a:ext cx="170993" cy="170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7223760" y="3557016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A2A38"/>
                </a:solidFill>
              </a:rPr>
              <a:t>Solo grandes cadenas de super</a:t>
            </a:r>
            <a:endParaRPr sz="1350">
              <a:solidFill>
                <a:srgbClr val="2A2A38"/>
              </a:solidFill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739128" y="4005072"/>
            <a:ext cx="310896" cy="310896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105" name="Google Shape;1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9080" y="4075024"/>
            <a:ext cx="170993" cy="170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/>
          <p:nvPr/>
        </p:nvSpPr>
        <p:spPr>
          <a:xfrm>
            <a:off x="7223760" y="3959352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lang="en-US" sz="1350">
                <a:solidFill>
                  <a:srgbClr val="2A2A38"/>
                </a:solidFill>
              </a:rPr>
              <a:t>Faltan features clave</a:t>
            </a:r>
            <a:endParaRPr sz="1350">
              <a:solidFill>
                <a:srgbClr val="2A2A38"/>
              </a:solidFill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6739128" y="4407408"/>
            <a:ext cx="310896" cy="310896"/>
          </a:xfrm>
          <a:prstGeom prst="ellipse">
            <a:avLst/>
          </a:prstGeom>
          <a:solidFill>
            <a:srgbClr val="8A8A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09080" y="4477360"/>
            <a:ext cx="170993" cy="170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4"/>
          <p:cNvSpPr/>
          <p:nvPr/>
        </p:nvSpPr>
        <p:spPr>
          <a:xfrm>
            <a:off x="7223760" y="4361688"/>
            <a:ext cx="3886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Sin colaboración comunitaria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22960" y="5166360"/>
            <a:ext cx="10515600" cy="1051560"/>
          </a:xfrm>
          <a:prstGeom prst="roundRect">
            <a:avLst>
              <a:gd fmla="val 13913" name="adj"/>
            </a:avLst>
          </a:prstGeom>
          <a:solidFill>
            <a:srgbClr val="1A1A2E"/>
          </a:solidFill>
          <a:ln>
            <a:noFill/>
          </a:ln>
          <a:effectLst>
            <a:outerShdw blurRad="127000" rotWithShape="0" algn="bl" dir="5400000" dist="38100">
              <a:srgbClr val="1A1A2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preq_logo.png" id="111" name="Google Shape;111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51560" y="5285232"/>
            <a:ext cx="822960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4"/>
          <p:cNvSpPr/>
          <p:nvPr/>
        </p:nvSpPr>
        <p:spPr>
          <a:xfrm>
            <a:off x="2240280" y="5504688"/>
            <a:ext cx="365760" cy="36576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113" name="Google Shape;113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28062" y="559247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/>
          <p:nvPr/>
        </p:nvSpPr>
        <p:spPr>
          <a:xfrm>
            <a:off x="2697480" y="545896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Foto para identificar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4526280" y="5504688"/>
            <a:ext cx="365760" cy="36576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116" name="Google Shape;116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4062" y="559247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4"/>
          <p:cNvSpPr/>
          <p:nvPr/>
        </p:nvSpPr>
        <p:spPr>
          <a:xfrm>
            <a:off x="4983480" y="545896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Comunidad en vivo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6812280" y="5504688"/>
            <a:ext cx="365760" cy="36576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119" name="Google Shape;119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00062" y="559247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4"/>
          <p:cNvSpPr/>
          <p:nvPr/>
        </p:nvSpPr>
        <p:spPr>
          <a:xfrm>
            <a:off x="7269480" y="545896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Precio por ubicación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9098280" y="5504688"/>
            <a:ext cx="365760" cy="36576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122" name="Google Shape;122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86062" y="5592470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9555480" y="5458968"/>
            <a:ext cx="1783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Gratis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ACTORES · QUIÉNES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¿Para quién es PreQ?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822960" y="1627632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Pensada para quienes cuidan cada peso, y para los comercios que quieren competir.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822960" y="2331720"/>
            <a:ext cx="3383280" cy="3703320"/>
          </a:xfrm>
          <a:prstGeom prst="roundRect">
            <a:avLst>
              <a:gd fmla="val 4865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1920240" y="2743200"/>
            <a:ext cx="1188720" cy="11887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art.png" id="134" name="Google Shape;13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17420" y="30403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1051560" y="41148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Consumidores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143000" y="46634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Evitan pagar de más y comparan antes de comprar.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1143000" y="53949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Quieren el mejor precio, sin perder tiempo.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526280" y="2331720"/>
            <a:ext cx="3383280" cy="3703320"/>
          </a:xfrm>
          <a:prstGeom prst="roundRect">
            <a:avLst>
              <a:gd fmla="val 4865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623560" y="2743200"/>
            <a:ext cx="1188720" cy="11887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wallet.png" id="140" name="Google Shape;140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20740" y="30403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/>
          <p:nvPr/>
        </p:nvSpPr>
        <p:spPr>
          <a:xfrm>
            <a:off x="4754880" y="41148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Presupuesto limitado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846320" y="46634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Muy sensibles a los cambios de precio.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4846320" y="53949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Cada oferta cuenta para llegar a fin de mes.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229600" y="2331720"/>
            <a:ext cx="3383280" cy="3703320"/>
          </a:xfrm>
          <a:prstGeom prst="roundRect">
            <a:avLst>
              <a:gd fmla="val 4865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9326880" y="2743200"/>
            <a:ext cx="1188720" cy="11887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hop.png" id="146" name="Google Shape;14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624060" y="3040380"/>
            <a:ext cx="594360" cy="59436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5"/>
          <p:cNvSpPr/>
          <p:nvPr/>
        </p:nvSpPr>
        <p:spPr>
          <a:xfrm>
            <a:off x="8458200" y="4114800"/>
            <a:ext cx="2926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Negocios pequeños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8549640" y="466344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Buscan visibilidad frente a las grandes cadenas.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8549640" y="539496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Muestran sus precios y atraen clientes locales.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LICENCIAMIENTO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Licencia MIT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822960" y="1627632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Tentativa · Código abierto, permisiva y compatible con un proyecto colaborativo.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822960" y="2331720"/>
            <a:ext cx="3749040" cy="3749040"/>
          </a:xfrm>
          <a:prstGeom prst="roundRect">
            <a:avLst>
              <a:gd fmla="val 4878" name="adj"/>
            </a:avLst>
          </a:prstGeom>
          <a:solidFill>
            <a:srgbClr val="1A1A2E"/>
          </a:solidFill>
          <a:ln>
            <a:noFill/>
          </a:ln>
          <a:effectLst>
            <a:outerShdw blurRad="127000" rotWithShape="0" algn="bl" dir="5400000" dist="38100">
              <a:srgbClr val="1A1A2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2011680" y="2788920"/>
            <a:ext cx="1371600" cy="13716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cale.png" id="160" name="Google Shape;16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54580" y="31318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/>
          <p:nvPr/>
        </p:nvSpPr>
        <p:spPr>
          <a:xfrm>
            <a:off x="822960" y="4343400"/>
            <a:ext cx="37490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MIT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822960" y="5120640"/>
            <a:ext cx="3749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License</a:t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029200" y="2514600"/>
            <a:ext cx="731520" cy="7315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164" name="Google Shape;16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6710" y="271211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5989320" y="2496312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Uso libre y comercial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989320" y="2916936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Cualquiera puede usar, copiar y modificar el código.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029200" y="3749040"/>
            <a:ext cx="731520" cy="7315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168" name="Google Shape;16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6710" y="394655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6"/>
          <p:cNvSpPr/>
          <p:nvPr/>
        </p:nvSpPr>
        <p:spPr>
          <a:xfrm>
            <a:off x="5989320" y="3730752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Distribución abierta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5989320" y="4151376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Se puede compartir y redistribuir sin fricción.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029200" y="4983480"/>
            <a:ext cx="731520" cy="73152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172" name="Google Shape;1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26710" y="5180990"/>
            <a:ext cx="336499" cy="336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6"/>
          <p:cNvSpPr/>
          <p:nvPr/>
        </p:nvSpPr>
        <p:spPr>
          <a:xfrm>
            <a:off x="5989320" y="4965192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Requisito mínimo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989320" y="5385816"/>
            <a:ext cx="5486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Solo se debe conservar el aviso de copyright y licencia.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7"/>
          <p:cNvSpPr/>
          <p:nvPr/>
        </p:nvSpPr>
        <p:spPr>
          <a:xfrm>
            <a:off x="822960" y="86868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Qué construimos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822960" y="1828800"/>
            <a:ext cx="6446520" cy="4206240"/>
          </a:xfrm>
          <a:prstGeom prst="roundRect">
            <a:avLst>
              <a:gd fmla="val 3913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1143000" y="2057400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Incluido en el alcance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1143000" y="2606040"/>
            <a:ext cx="548640" cy="54864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amera.png" id="185" name="Google Shape;18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0160" y="27432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7"/>
          <p:cNvSpPr/>
          <p:nvPr/>
        </p:nvSpPr>
        <p:spPr>
          <a:xfrm>
            <a:off x="1874520" y="2606040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Reconocimiento de productos por foto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1143000" y="3273552"/>
            <a:ext cx="548640" cy="54864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users.png" id="188" name="Google Shape;18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0160" y="34107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7"/>
          <p:cNvSpPr/>
          <p:nvPr/>
        </p:nvSpPr>
        <p:spPr>
          <a:xfrm>
            <a:off x="1874520" y="3273552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Carga y validación de precios por la comunidad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1143000" y="3941064"/>
            <a:ext cx="548640" cy="54864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art.png" id="191" name="Google Shape;19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80160" y="4078224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1874520" y="3941064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Modo carrito y modo individual de comparación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143000" y="4608576"/>
            <a:ext cx="548640" cy="54864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map.png" id="194" name="Google Shape;19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80160" y="47457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7"/>
          <p:cNvSpPr/>
          <p:nvPr/>
        </p:nvSpPr>
        <p:spPr>
          <a:xfrm>
            <a:off x="1874520" y="4608576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Comparación por ubicación y mapa de calor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1143000" y="5276088"/>
            <a:ext cx="548640" cy="54864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artArea.png" id="197" name="Google Shape;197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80160" y="5413248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1874520" y="5276088"/>
            <a:ext cx="5120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Reporte detallado de precios por producto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7498080" y="1828800"/>
            <a:ext cx="3840480" cy="4206240"/>
          </a:xfrm>
          <a:prstGeom prst="roundRect">
            <a:avLst>
              <a:gd fmla="val 4286" name="adj"/>
            </a:avLst>
          </a:prstGeom>
          <a:solidFill>
            <a:srgbClr val="20202F"/>
          </a:solidFill>
          <a:ln cap="flat" cmpd="sng" w="12700">
            <a:solidFill>
              <a:srgbClr val="3A3A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7772400" y="205740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Fuera del alcance (por ahora)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7772400" y="2697480"/>
            <a:ext cx="329184" cy="329184"/>
          </a:xfrm>
          <a:prstGeom prst="ellipse">
            <a:avLst/>
          </a:prstGeom>
          <a:solidFill>
            <a:srgbClr val="3A3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202" name="Google Shape;202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6466" y="2771546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7"/>
          <p:cNvSpPr/>
          <p:nvPr/>
        </p:nvSpPr>
        <p:spPr>
          <a:xfrm>
            <a:off x="8229600" y="2583179"/>
            <a:ext cx="2926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Compra o pago dentro de la app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772400" y="3355848"/>
            <a:ext cx="329184" cy="329184"/>
          </a:xfrm>
          <a:prstGeom prst="ellipse">
            <a:avLst/>
          </a:prstGeom>
          <a:solidFill>
            <a:srgbClr val="3A3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205" name="Google Shape;205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6466" y="3429914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7"/>
          <p:cNvSpPr/>
          <p:nvPr/>
        </p:nvSpPr>
        <p:spPr>
          <a:xfrm>
            <a:off x="8229600" y="3246121"/>
            <a:ext cx="2926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Logística y envíos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7772400" y="4014216"/>
            <a:ext cx="329184" cy="329184"/>
          </a:xfrm>
          <a:prstGeom prst="ellipse">
            <a:avLst/>
          </a:prstGeom>
          <a:solidFill>
            <a:srgbClr val="3A3A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xmark.png" id="208" name="Google Shape;208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46466" y="4088282"/>
            <a:ext cx="181051" cy="181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8229600" y="3959352"/>
            <a:ext cx="2926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Integración directa con cajas de comercios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ALCANCE · CÓMO FUNCIONA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Reconocimiento de productos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61125" y="1880400"/>
            <a:ext cx="2613300" cy="3771900"/>
          </a:xfrm>
          <a:prstGeom prst="roundRect">
            <a:avLst>
              <a:gd fmla="val 5185" name="adj"/>
            </a:avLst>
          </a:prstGeom>
          <a:solidFill>
            <a:srgbClr val="F4F4F8"/>
          </a:solidFill>
          <a:ln cap="flat" cmpd="sng" w="1345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8"/>
          <p:cNvSpPr/>
          <p:nvPr/>
        </p:nvSpPr>
        <p:spPr>
          <a:xfrm>
            <a:off x="554720" y="2073984"/>
            <a:ext cx="483900" cy="4839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"/>
          <p:cNvSpPr/>
          <p:nvPr/>
        </p:nvSpPr>
        <p:spPr>
          <a:xfrm>
            <a:off x="554720" y="2073984"/>
            <a:ext cx="483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4"/>
              <a:buFont typeface="Arial"/>
              <a:buNone/>
            </a:pPr>
            <a:r>
              <a:rPr b="1" i="0" lang="en-US" sz="16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6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8"/>
          <p:cNvSpPr/>
          <p:nvPr/>
        </p:nvSpPr>
        <p:spPr>
          <a:xfrm>
            <a:off x="506325" y="4977601"/>
            <a:ext cx="2322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94"/>
              <a:buFont typeface="Arial"/>
              <a:buNone/>
            </a:pPr>
            <a:r>
              <a:rPr b="1" i="0" lang="en-US" sz="1694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endParaRPr b="0" i="0" sz="16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570520" y="5277009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Foto del producto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arrowRight.png"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93864" y="3274203"/>
            <a:ext cx="290374" cy="290374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/>
          <p:nvPr/>
        </p:nvSpPr>
        <p:spPr>
          <a:xfrm>
            <a:off x="3313275" y="1880400"/>
            <a:ext cx="2613300" cy="3771900"/>
          </a:xfrm>
          <a:prstGeom prst="roundRect">
            <a:avLst>
              <a:gd fmla="val 5185" name="adj"/>
            </a:avLst>
          </a:prstGeom>
          <a:solidFill>
            <a:srgbClr val="F4F4F8"/>
          </a:solidFill>
          <a:ln cap="flat" cmpd="sng" w="1345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"/>
          <p:cNvSpPr/>
          <p:nvPr/>
        </p:nvSpPr>
        <p:spPr>
          <a:xfrm>
            <a:off x="3506858" y="2073984"/>
            <a:ext cx="483900" cy="4839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"/>
          <p:cNvSpPr/>
          <p:nvPr/>
        </p:nvSpPr>
        <p:spPr>
          <a:xfrm>
            <a:off x="3506858" y="2073984"/>
            <a:ext cx="483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4"/>
              <a:buFont typeface="Arial"/>
              <a:buNone/>
            </a:pPr>
            <a:r>
              <a:rPr b="1" i="0" lang="en-US" sz="16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6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/>
          <p:nvPr/>
        </p:nvSpPr>
        <p:spPr>
          <a:xfrm>
            <a:off x="3458487" y="4977601"/>
            <a:ext cx="2322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94"/>
              <a:buFont typeface="Arial"/>
              <a:buNone/>
            </a:pPr>
            <a:r>
              <a:rPr b="1" i="0" lang="en-US" sz="1694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Limpieza</a:t>
            </a:r>
            <a:endParaRPr b="0" i="0" sz="16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3522640" y="5277031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Se aísla el producto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arrowRight.png" id="228" name="Google Shape;22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6002" y="3274203"/>
            <a:ext cx="290374" cy="290374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8"/>
          <p:cNvSpPr/>
          <p:nvPr/>
        </p:nvSpPr>
        <p:spPr>
          <a:xfrm>
            <a:off x="6265425" y="1880400"/>
            <a:ext cx="2613300" cy="3771900"/>
          </a:xfrm>
          <a:prstGeom prst="roundRect">
            <a:avLst>
              <a:gd fmla="val 5185" name="adj"/>
            </a:avLst>
          </a:prstGeom>
          <a:solidFill>
            <a:srgbClr val="F4F4F8"/>
          </a:solidFill>
          <a:ln cap="flat" cmpd="sng" w="1345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8"/>
          <p:cNvSpPr/>
          <p:nvPr/>
        </p:nvSpPr>
        <p:spPr>
          <a:xfrm>
            <a:off x="6458996" y="2073984"/>
            <a:ext cx="483900" cy="4839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6458996" y="2073984"/>
            <a:ext cx="483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4"/>
              <a:buFont typeface="Arial"/>
              <a:buNone/>
            </a:pPr>
            <a:r>
              <a:rPr b="1" i="0" lang="en-US" sz="16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6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604183" y="2993507"/>
            <a:ext cx="1935900" cy="919500"/>
          </a:xfrm>
          <a:prstGeom prst="roundRect">
            <a:avLst>
              <a:gd fmla="val 10526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"/>
          <p:cNvSpPr/>
          <p:nvPr/>
        </p:nvSpPr>
        <p:spPr>
          <a:xfrm>
            <a:off x="6604183" y="2993507"/>
            <a:ext cx="1935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0"/>
              <a:buFont typeface="Courier New"/>
              <a:buNone/>
            </a:pPr>
            <a:r>
              <a:rPr b="0" i="0" lang="en-US" sz="12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[-0.63, 1.00, 0.23, …]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474825" y="4977601"/>
            <a:ext cx="2322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94"/>
              <a:buFont typeface="Arial"/>
              <a:buNone/>
            </a:pPr>
            <a:r>
              <a:rPr b="1" i="0" lang="en-US" sz="1694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Traducción</a:t>
            </a:r>
            <a:endParaRPr b="0" i="0" sz="16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6538935" y="5277031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Se convierte en vector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arrowRight.png" id="236" name="Google Shape;2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8140" y="3274203"/>
            <a:ext cx="290374" cy="2903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/>
          <p:nvPr/>
        </p:nvSpPr>
        <p:spPr>
          <a:xfrm>
            <a:off x="9217550" y="1880400"/>
            <a:ext cx="2613300" cy="3771900"/>
          </a:xfrm>
          <a:prstGeom prst="roundRect">
            <a:avLst>
              <a:gd fmla="val 5185" name="adj"/>
            </a:avLst>
          </a:prstGeom>
          <a:solidFill>
            <a:srgbClr val="F4F4F8"/>
          </a:solidFill>
          <a:ln cap="flat" cmpd="sng" w="1345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8"/>
          <p:cNvSpPr/>
          <p:nvPr/>
        </p:nvSpPr>
        <p:spPr>
          <a:xfrm>
            <a:off x="9411134" y="2073984"/>
            <a:ext cx="483900" cy="4839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"/>
          <p:cNvSpPr/>
          <p:nvPr/>
        </p:nvSpPr>
        <p:spPr>
          <a:xfrm>
            <a:off x="9411134" y="2073984"/>
            <a:ext cx="4839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94"/>
              <a:buFont typeface="Arial"/>
              <a:buNone/>
            </a:pPr>
            <a:r>
              <a:rPr b="1" i="0" lang="en-US" sz="169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6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9556321" y="2993507"/>
            <a:ext cx="1935900" cy="919500"/>
          </a:xfrm>
          <a:prstGeom prst="roundRect">
            <a:avLst>
              <a:gd fmla="val 10526" name="adj"/>
            </a:avLst>
          </a:prstGeom>
          <a:solidFill>
            <a:srgbClr val="1A1A2E"/>
          </a:solidFill>
          <a:ln>
            <a:noFill/>
          </a:ln>
        </p:spPr>
        <p:txBody>
          <a:bodyPr anchorCtr="0" anchor="ctr" bIns="96775" lIns="96775" spcFirstLastPara="1" rIns="96775" wrap="square" tIns="9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9556321" y="2993507"/>
            <a:ext cx="1935900" cy="9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70"/>
              <a:buFont typeface="Courier New"/>
              <a:buNone/>
            </a:pPr>
            <a:r>
              <a:rPr b="0" i="0" lang="en-US" sz="127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[0.11, -0.97, 0.71, …]</a:t>
            </a:r>
            <a:endParaRPr b="0" i="0" sz="12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9362763" y="4977601"/>
            <a:ext cx="2322900" cy="38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350" lIns="96775" spcFirstLastPara="1" rIns="96775" wrap="square" tIns="483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94"/>
              <a:buFont typeface="Arial"/>
              <a:buNone/>
            </a:pPr>
            <a:r>
              <a:rPr b="1" i="0" lang="en-US" sz="1694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Comparación</a:t>
            </a:r>
            <a:endParaRPr b="0" i="0" sz="169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491180" y="5277031"/>
            <a:ext cx="219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Match con la base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170072" y="5932500"/>
            <a:ext cx="10515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Oportunidades:  </a:t>
            </a: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código de barras dañado · productos artesanales con marca · expansión a farmacia, librería y más.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8" title="test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950" y="2719400"/>
            <a:ext cx="1693651" cy="22582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8" title="output 10.48.01 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21925" y="2685950"/>
            <a:ext cx="604336" cy="2258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ALCANCE · CÓMO FUNCIONA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Comparación y carritos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22960" y="1874520"/>
            <a:ext cx="5074920" cy="4023360"/>
          </a:xfrm>
          <a:prstGeom prst="roundRect">
            <a:avLst>
              <a:gd fmla="val 3636" name="adj"/>
            </a:avLst>
          </a:prstGeom>
          <a:solidFill>
            <a:srgbClr val="F4F4F8"/>
          </a:solidFill>
          <a:ln cap="flat" cmpd="sng" w="1270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9"/>
          <p:cNvSpPr/>
          <p:nvPr/>
        </p:nvSpPr>
        <p:spPr>
          <a:xfrm>
            <a:off x="1188720" y="2240280"/>
            <a:ext cx="868680" cy="86868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art.png" id="256" name="Google Shape;2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890" y="245745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9"/>
          <p:cNvSpPr/>
          <p:nvPr/>
        </p:nvSpPr>
        <p:spPr>
          <a:xfrm>
            <a:off x="2194560" y="23774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Modo carrito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1234440" y="3383280"/>
            <a:ext cx="457200" cy="4572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arrowRightWhite.png" id="259" name="Google Shape;25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8740" y="34975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9"/>
          <p:cNvSpPr/>
          <p:nvPr/>
        </p:nvSpPr>
        <p:spPr>
          <a:xfrm>
            <a:off x="1828800" y="3310128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Armá  </a:t>
            </a: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Seleccioná los productos </a:t>
            </a:r>
            <a:r>
              <a:rPr lang="en-US" sz="1350">
                <a:solidFill>
                  <a:srgbClr val="2A2A38"/>
                </a:solidFill>
              </a:rPr>
              <a:t>para</a:t>
            </a: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 tu compra.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1234440" y="4133088"/>
            <a:ext cx="457200" cy="4572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arrowRightWhite.png" id="262" name="Google Shape;2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8740" y="42473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9"/>
          <p:cNvSpPr/>
          <p:nvPr/>
        </p:nvSpPr>
        <p:spPr>
          <a:xfrm>
            <a:off x="1828800" y="4059936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Observá  </a:t>
            </a: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Compará la distribución de precios por ubicación.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234440" y="4882896"/>
            <a:ext cx="457200" cy="45720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arrowRightWhite.png" id="265" name="Google Shape;26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8740" y="499719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9"/>
          <p:cNvSpPr/>
          <p:nvPr/>
        </p:nvSpPr>
        <p:spPr>
          <a:xfrm>
            <a:off x="1828800" y="4809744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Comprá  </a:t>
            </a: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Conservá la lista y comprobá tu ahorro.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355080" y="1874520"/>
            <a:ext cx="5074920" cy="4023360"/>
          </a:xfrm>
          <a:prstGeom prst="roundRect">
            <a:avLst>
              <a:gd fmla="val 3636" name="adj"/>
            </a:avLst>
          </a:prstGeom>
          <a:solidFill>
            <a:srgbClr val="FBEEF2"/>
          </a:solidFill>
          <a:ln cap="flat" cmpd="sng" w="12700">
            <a:solidFill>
              <a:srgbClr val="F3C9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6720840" y="2240280"/>
            <a:ext cx="868680" cy="86868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magnifier.png" id="269" name="Google Shape;269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938010" y="245745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9"/>
          <p:cNvSpPr/>
          <p:nvPr/>
        </p:nvSpPr>
        <p:spPr>
          <a:xfrm>
            <a:off x="7726680" y="2377440"/>
            <a:ext cx="3429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Modo individual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766560" y="3383280"/>
            <a:ext cx="457200" cy="4572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arrowRightWhite.png" id="272" name="Google Shape;27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0860" y="349758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/>
          <p:nvPr/>
        </p:nvSpPr>
        <p:spPr>
          <a:xfrm>
            <a:off x="7360920" y="3310128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Detectá  </a:t>
            </a: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Elegí cómo detectar un producto.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6766560" y="4133088"/>
            <a:ext cx="457200" cy="4572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arrowRightWhite.png" id="275" name="Google Shape;27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0860" y="4247388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9"/>
          <p:cNvSpPr/>
          <p:nvPr/>
        </p:nvSpPr>
        <p:spPr>
          <a:xfrm>
            <a:off x="7360920" y="4059936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Analizá  </a:t>
            </a: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Obtené el detalle de precios.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6766560" y="4882896"/>
            <a:ext cx="457200" cy="4572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arrowRightWhite.png" id="278" name="Google Shape;27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0860" y="4997196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9"/>
          <p:cNvSpPr/>
          <p:nvPr/>
        </p:nvSpPr>
        <p:spPr>
          <a:xfrm>
            <a:off x="7360920" y="4809744"/>
            <a:ext cx="3703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Visualizá  </a:t>
            </a:r>
            <a:r>
              <a:rPr b="0" i="0" lang="en-US" sz="135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Por mapa de calor o reporte detallado.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491c0c779_0_7"/>
          <p:cNvSpPr/>
          <p:nvPr/>
        </p:nvSpPr>
        <p:spPr>
          <a:xfrm>
            <a:off x="822960" y="45720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ALCANCE · CÓMO LO HICIMOS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f491c0c779_0_7"/>
          <p:cNvSpPr/>
          <p:nvPr/>
        </p:nvSpPr>
        <p:spPr>
          <a:xfrm>
            <a:off x="822960" y="749808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La lógica detrás del precio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g3f491c0c779_0_7"/>
          <p:cNvSpPr/>
          <p:nvPr/>
        </p:nvSpPr>
        <p:spPr>
          <a:xfrm>
            <a:off x="822960" y="1371600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Cada reporte pasa por reglas automáticas antes de afectar el precio mostrado. Todo invisible para el usuario.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g3f491c0c779_0_7"/>
          <p:cNvSpPr/>
          <p:nvPr/>
        </p:nvSpPr>
        <p:spPr>
          <a:xfrm>
            <a:off x="822960" y="1874520"/>
            <a:ext cx="3246000" cy="1965900"/>
          </a:xfrm>
          <a:prstGeom prst="roundRect">
            <a:avLst>
              <a:gd fmla="val 6512" name="adj"/>
            </a:avLst>
          </a:prstGeom>
          <a:solidFill>
            <a:srgbClr val="F4F4F8"/>
          </a:solidFill>
          <a:ln cap="flat" cmpd="sng" w="1270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f491c0c779_0_7"/>
          <p:cNvSpPr/>
          <p:nvPr/>
        </p:nvSpPr>
        <p:spPr>
          <a:xfrm>
            <a:off x="1143000" y="2167128"/>
            <a:ext cx="777300" cy="7773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boxOpen.png" id="290" name="Google Shape;290;g3f491c0c779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310" y="236143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3f491c0c779_0_7"/>
          <p:cNvSpPr/>
          <p:nvPr/>
        </p:nvSpPr>
        <p:spPr>
          <a:xfrm>
            <a:off x="2057400" y="2258568"/>
            <a:ext cx="178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1 · Reporte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g3f491c0c779_0_7"/>
          <p:cNvSpPr/>
          <p:nvPr/>
        </p:nvSpPr>
        <p:spPr>
          <a:xfrm>
            <a:off x="1188720" y="3044952"/>
            <a:ext cx="256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El usuario carga un precio.</a:t>
            </a:r>
            <a:r>
              <a:rPr lang="en-US" sz="1200">
                <a:solidFill>
                  <a:srgbClr val="2A2A38"/>
                </a:solidFill>
              </a:rPr>
              <a:t> Con pocos datos se acepta directamente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arrowRight.png" id="293" name="Google Shape;293;g3f491c0c779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0" y="27203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f491c0c779_0_7"/>
          <p:cNvSpPr/>
          <p:nvPr/>
        </p:nvSpPr>
        <p:spPr>
          <a:xfrm>
            <a:off x="4453128" y="1874520"/>
            <a:ext cx="3246000" cy="1965900"/>
          </a:xfrm>
          <a:prstGeom prst="roundRect">
            <a:avLst>
              <a:gd fmla="val 6512" name="adj"/>
            </a:avLst>
          </a:prstGeom>
          <a:solidFill>
            <a:srgbClr val="F4F4F8"/>
          </a:solidFill>
          <a:ln cap="flat" cmpd="sng" w="1270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g3f491c0c779_0_7"/>
          <p:cNvSpPr/>
          <p:nvPr/>
        </p:nvSpPr>
        <p:spPr>
          <a:xfrm>
            <a:off x="4773168" y="2167128"/>
            <a:ext cx="777300" cy="7773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cale.png" id="296" name="Google Shape;296;g3f491c0c779_0_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7478" y="236143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3f491c0c779_0_7"/>
          <p:cNvSpPr/>
          <p:nvPr/>
        </p:nvSpPr>
        <p:spPr>
          <a:xfrm>
            <a:off x="5687568" y="2258568"/>
            <a:ext cx="178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2 · Validación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g3f491c0c779_0_7"/>
          <p:cNvSpPr/>
          <p:nvPr/>
        </p:nvSpPr>
        <p:spPr>
          <a:xfrm>
            <a:off x="4818888" y="3044952"/>
            <a:ext cx="256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Se controla el desvío</a:t>
            </a:r>
            <a:r>
              <a:rPr lang="en-US" sz="1200">
                <a:solidFill>
                  <a:srgbClr val="2A2A38"/>
                </a:solidFill>
              </a:rPr>
              <a:t> del promedio</a:t>
            </a:r>
            <a:r>
              <a:rPr b="0" i="0" lang="en-US" sz="120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 y la cercanía </a:t>
            </a:r>
            <a:r>
              <a:rPr lang="en-US" sz="1200">
                <a:solidFill>
                  <a:srgbClr val="2A2A38"/>
                </a:solidFill>
              </a:rPr>
              <a:t>a la ubicación del reporte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ssets/icons/arrowRight.png" id="299" name="Google Shape;299;g3f491c0c779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44968" y="2720340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g3f491c0c779_0_7"/>
          <p:cNvSpPr/>
          <p:nvPr/>
        </p:nvSpPr>
        <p:spPr>
          <a:xfrm>
            <a:off x="8083296" y="1874520"/>
            <a:ext cx="3246000" cy="1965900"/>
          </a:xfrm>
          <a:prstGeom prst="roundRect">
            <a:avLst>
              <a:gd fmla="val 6512" name="adj"/>
            </a:avLst>
          </a:prstGeom>
          <a:solidFill>
            <a:srgbClr val="F4F4F8"/>
          </a:solidFill>
          <a:ln cap="flat" cmpd="sng" w="1270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g3f491c0c779_0_7"/>
          <p:cNvSpPr/>
          <p:nvPr/>
        </p:nvSpPr>
        <p:spPr>
          <a:xfrm>
            <a:off x="8403336" y="2167128"/>
            <a:ext cx="777300" cy="7773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artArea.png" id="302" name="Google Shape;302;g3f491c0c779_0_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97646" y="2361438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g3f491c0c779_0_7"/>
          <p:cNvSpPr/>
          <p:nvPr/>
        </p:nvSpPr>
        <p:spPr>
          <a:xfrm>
            <a:off x="9317736" y="2258568"/>
            <a:ext cx="1783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3 · Precio ponderado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g3f491c0c779_0_7"/>
          <p:cNvSpPr/>
          <p:nvPr/>
        </p:nvSpPr>
        <p:spPr>
          <a:xfrm>
            <a:off x="8449056" y="3044952"/>
            <a:ext cx="2560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A2A3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Promedio con decaído temporal e inflaci</a:t>
            </a:r>
            <a:r>
              <a:rPr lang="en-US" sz="1200">
                <a:solidFill>
                  <a:srgbClr val="2A2A38"/>
                </a:solidFill>
              </a:rPr>
              <a:t>ón estimada</a:t>
            </a:r>
            <a:r>
              <a:rPr b="0" i="0" lang="en-US" sz="1200" u="none" cap="none" strike="noStrike">
                <a:solidFill>
                  <a:srgbClr val="2A2A38"/>
                </a:solidFill>
                <a:latin typeface="Arial"/>
                <a:ea typeface="Arial"/>
                <a:cs typeface="Arial"/>
                <a:sym typeface="Arial"/>
              </a:rPr>
              <a:t>: lo reciente y cercano pesa más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g3f491c0c779_0_7"/>
          <p:cNvSpPr/>
          <p:nvPr/>
        </p:nvSpPr>
        <p:spPr>
          <a:xfrm>
            <a:off x="822960" y="4270275"/>
            <a:ext cx="5166300" cy="2148900"/>
          </a:xfrm>
          <a:prstGeom prst="roundRect">
            <a:avLst>
              <a:gd fmla="val 6809" name="adj"/>
            </a:avLst>
          </a:prstGeom>
          <a:solidFill>
            <a:srgbClr val="1A1A2E"/>
          </a:solidFill>
          <a:ln>
            <a:noFill/>
          </a:ln>
          <a:effectLst>
            <a:outerShdw blurRad="127000" rotWithShape="0" algn="bl" dir="5400000" dist="38100">
              <a:srgbClr val="1A1A2E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f491c0c779_0_7"/>
          <p:cNvSpPr/>
          <p:nvPr/>
        </p:nvSpPr>
        <p:spPr>
          <a:xfrm>
            <a:off x="988713" y="4474786"/>
            <a:ext cx="582900" cy="5487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users.png" id="307" name="Google Shape;307;g3f491c0c779_0_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6839" y="4594404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f491c0c779_0_7"/>
          <p:cNvSpPr/>
          <p:nvPr/>
        </p:nvSpPr>
        <p:spPr>
          <a:xfrm>
            <a:off x="2011680" y="4498848"/>
            <a:ext cx="3840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Validación comunitaria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g3f491c0c779_0_7"/>
          <p:cNvSpPr/>
          <p:nvPr/>
        </p:nvSpPr>
        <p:spPr>
          <a:xfrm>
            <a:off x="1143000" y="5212080"/>
            <a:ext cx="274200" cy="2742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310" name="Google Shape;310;g3f491c0c779_0_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4722" y="5273802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f491c0c779_0_7"/>
          <p:cNvSpPr/>
          <p:nvPr/>
        </p:nvSpPr>
        <p:spPr>
          <a:xfrm>
            <a:off x="1554480" y="5138928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Reportes dudosos quedan pendientes de revisión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f491c0c779_0_7"/>
          <p:cNvSpPr/>
          <p:nvPr/>
        </p:nvSpPr>
        <p:spPr>
          <a:xfrm>
            <a:off x="1143000" y="5596128"/>
            <a:ext cx="274200" cy="2742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313" name="Google Shape;313;g3f491c0c779_0_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4722" y="565785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g3f491c0c779_0_7"/>
          <p:cNvSpPr/>
          <p:nvPr/>
        </p:nvSpPr>
        <p:spPr>
          <a:xfrm>
            <a:off x="1554480" y="5522976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Usuarios de confianza cercanos los confirman o disputan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g3f491c0c779_0_7"/>
          <p:cNvSpPr/>
          <p:nvPr/>
        </p:nvSpPr>
        <p:spPr>
          <a:xfrm>
            <a:off x="1143000" y="5980176"/>
            <a:ext cx="274200" cy="2742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316" name="Google Shape;316;g3f491c0c779_0_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04722" y="6041898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f491c0c779_0_7"/>
          <p:cNvSpPr/>
          <p:nvPr/>
        </p:nvSpPr>
        <p:spPr>
          <a:xfrm>
            <a:off x="1554480" y="5907024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Una disputa baja el puntaje y guarda el precio alternativo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g3f491c0c779_0_7"/>
          <p:cNvSpPr/>
          <p:nvPr/>
        </p:nvSpPr>
        <p:spPr>
          <a:xfrm>
            <a:off x="6206600" y="4270275"/>
            <a:ext cx="5166300" cy="2148900"/>
          </a:xfrm>
          <a:prstGeom prst="roundRect">
            <a:avLst>
              <a:gd fmla="val 6809" name="adj"/>
            </a:avLst>
          </a:prstGeom>
          <a:solidFill>
            <a:srgbClr val="1A1A2E"/>
          </a:solidFill>
          <a:ln>
            <a:noFill/>
          </a:ln>
          <a:effectLst>
            <a:outerShdw blurRad="127000" rotWithShape="0" algn="bl" dir="5400000" dist="38100">
              <a:srgbClr val="1A1A2E">
                <a:alpha val="121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g3f491c0c779_0_7"/>
          <p:cNvSpPr/>
          <p:nvPr/>
        </p:nvSpPr>
        <p:spPr>
          <a:xfrm>
            <a:off x="6359875" y="4443925"/>
            <a:ext cx="582900" cy="5487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hield.png" id="320" name="Google Shape;320;g3f491c0c779_0_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79856" y="4546828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f491c0c779_0_7"/>
          <p:cNvSpPr/>
          <p:nvPr/>
        </p:nvSpPr>
        <p:spPr>
          <a:xfrm>
            <a:off x="7360920" y="4498848"/>
            <a:ext cx="3840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Puntaje de confianza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g3f491c0c779_0_7"/>
          <p:cNvSpPr/>
          <p:nvPr/>
        </p:nvSpPr>
        <p:spPr>
          <a:xfrm>
            <a:off x="6516011" y="5212080"/>
            <a:ext cx="274200" cy="2742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323" name="Google Shape;323;g3f491c0c779_0_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7733" y="5273802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g3f491c0c779_0_7"/>
          <p:cNvSpPr/>
          <p:nvPr/>
        </p:nvSpPr>
        <p:spPr>
          <a:xfrm>
            <a:off x="6903720" y="5138928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Cada usuario arranca en </a:t>
            </a:r>
            <a:r>
              <a:rPr lang="en-US" sz="1150">
                <a:solidFill>
                  <a:srgbClr val="E8E8F0"/>
                </a:solidFill>
              </a:rPr>
              <a:t>50%, y</a:t>
            </a:r>
            <a:r>
              <a:rPr b="0" i="0" lang="en-US" sz="11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 sube o baja con su conducta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g3f491c0c779_0_7"/>
          <p:cNvSpPr/>
          <p:nvPr/>
        </p:nvSpPr>
        <p:spPr>
          <a:xfrm>
            <a:off x="6516011" y="5596128"/>
            <a:ext cx="274200" cy="2742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heckWhite.png" id="326" name="Google Shape;326;g3f491c0c779_0_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77733" y="5657850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g3f491c0c779_0_7"/>
          <p:cNvSpPr/>
          <p:nvPr/>
        </p:nvSpPr>
        <p:spPr>
          <a:xfrm>
            <a:off x="6903720" y="5522976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Por debajo de </a:t>
            </a:r>
            <a:r>
              <a:rPr lang="en-US" sz="1150">
                <a:solidFill>
                  <a:srgbClr val="E8E8F0"/>
                </a:solidFill>
              </a:rPr>
              <a:t>25% </a:t>
            </a:r>
            <a:r>
              <a:rPr b="0" i="0" lang="en-US" sz="11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la recuperación se vuelve más lenta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491c0c779_0_7"/>
          <p:cNvSpPr/>
          <p:nvPr/>
        </p:nvSpPr>
        <p:spPr>
          <a:xfrm>
            <a:off x="6516011" y="5980176"/>
            <a:ext cx="274200" cy="2742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eye.png" id="329" name="Google Shape;329;g3f491c0c779_0_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77733" y="6041898"/>
            <a:ext cx="150876" cy="15087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g3f491c0c779_0_7"/>
          <p:cNvSpPr/>
          <p:nvPr/>
        </p:nvSpPr>
        <p:spPr>
          <a:xfrm>
            <a:off x="6903720" y="5907024"/>
            <a:ext cx="425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Sus reportes dejan de afectar el precio, sin avisarle nunca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ALCANCE · RIESGOS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</a:rPr>
              <a:t>Riesgos previstos durante POC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822960" y="2194560"/>
            <a:ext cx="3383280" cy="3977640"/>
          </a:xfrm>
          <a:prstGeom prst="roundRect">
            <a:avLst>
              <a:gd fmla="val 4865" name="adj"/>
            </a:avLst>
          </a:prstGeom>
          <a:solidFill>
            <a:srgbClr val="3030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1143000" y="2514600"/>
            <a:ext cx="777240" cy="77724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hield.png" id="340" name="Google Shape;34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37310" y="27089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0"/>
          <p:cNvSpPr/>
          <p:nvPr/>
        </p:nvSpPr>
        <p:spPr>
          <a:xfrm>
            <a:off x="1097280" y="34290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Reportes fraudulentos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1143000" y="4010396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ESCENARIO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1143000" y="423367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200"/>
              <a:buFont typeface="Arial"/>
              <a:buNone/>
            </a:pPr>
            <a:r>
              <a:rPr lang="en-US" sz="1300">
                <a:solidFill>
                  <a:srgbClr val="E8E8F0"/>
                </a:solidFill>
              </a:rPr>
              <a:t>Agentes maliciosos</a:t>
            </a: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 que alteran precios.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1143000" y="4681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1143000" y="4892040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2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Pérdida de confianza.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1143000" y="5327132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1143000" y="5550408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Controles estrictos de ubicación y reportes.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526280" y="2194560"/>
            <a:ext cx="3383280" cy="3977640"/>
          </a:xfrm>
          <a:prstGeom prst="roundRect">
            <a:avLst>
              <a:gd fmla="val 4865" name="adj"/>
            </a:avLst>
          </a:prstGeom>
          <a:solidFill>
            <a:srgbClr val="3030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4846320" y="2514600"/>
            <a:ext cx="777240" cy="77724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users.png" id="350" name="Google Shape;35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0630" y="27089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0"/>
          <p:cNvSpPr/>
          <p:nvPr/>
        </p:nvSpPr>
        <p:spPr>
          <a:xfrm>
            <a:off x="4800600" y="34290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Falta de colaboración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4846320" y="4010396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ESCENARIO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846320" y="423367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Usuarios que no reportan precios.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4846320" y="4681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4846320" y="4892040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Datos desactualizados.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846320" y="5327132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846320" y="5550408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Notificaciones y reportes rápidos.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8229600" y="2194560"/>
            <a:ext cx="3383280" cy="3977640"/>
          </a:xfrm>
          <a:prstGeom prst="roundRect">
            <a:avLst>
              <a:gd fmla="val 4865" name="adj"/>
            </a:avLst>
          </a:prstGeom>
          <a:solidFill>
            <a:srgbClr val="3030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8549640" y="2514600"/>
            <a:ext cx="777240" cy="77724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heart.png" id="360" name="Google Shape;36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43950" y="2708910"/>
            <a:ext cx="388620" cy="38862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0"/>
          <p:cNvSpPr/>
          <p:nvPr/>
        </p:nvSpPr>
        <p:spPr>
          <a:xfrm>
            <a:off x="8503920" y="3429000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Solución gratuita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8549640" y="4010396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ESCENARIO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8549640" y="4233672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Faltan fondos para sostenerla.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8549640" y="468172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IMPACTO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8549640" y="4892040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Fallos y posible cierre.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8549640" y="5327132"/>
            <a:ext cx="274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i="0" lang="en-US" sz="105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8549640" y="5550408"/>
            <a:ext cx="27432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Anuncios de mercados para dar visibilidad.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2174013" y="2770698"/>
            <a:ext cx="209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lang="en-US" sz="1550">
                <a:solidFill>
                  <a:srgbClr val="D6003C"/>
                </a:solidFill>
              </a:rPr>
              <a:t>RESUELTO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5877313" y="2770686"/>
            <a:ext cx="209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lang="en-US" sz="1550">
                <a:solidFill>
                  <a:srgbClr val="D6003C"/>
                </a:solidFill>
              </a:rPr>
              <a:t>RESOLUCIÓN PARCIAL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9580613" y="2770686"/>
            <a:ext cx="209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950"/>
              <a:buFont typeface="Arial"/>
              <a:buNone/>
            </a:pPr>
            <a:r>
              <a:rPr b="1" lang="en-US" sz="1550">
                <a:solidFill>
                  <a:srgbClr val="D6003C"/>
                </a:solidFill>
              </a:rPr>
              <a:t>FUTURO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/>
          <p:nvPr/>
        </p:nvSpPr>
        <p:spPr>
          <a:xfrm>
            <a:off x="822960" y="54864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TECNOLOGÍAS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822960" y="8686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Con qué está construido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822960" y="1965960"/>
            <a:ext cx="5074920" cy="3794760"/>
          </a:xfrm>
          <a:prstGeom prst="roundRect">
            <a:avLst>
              <a:gd fmla="val 3855" name="adj"/>
            </a:avLst>
          </a:prstGeom>
          <a:solidFill>
            <a:srgbClr val="F4F4F8"/>
          </a:solidFill>
          <a:ln cap="flat" cmpd="sng" w="1270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1188720" y="2331720"/>
            <a:ext cx="822960" cy="82296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mobile.png" id="380" name="Google Shape;3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2690" y="25456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11"/>
          <p:cNvSpPr/>
          <p:nvPr/>
        </p:nvSpPr>
        <p:spPr>
          <a:xfrm>
            <a:off x="2148840" y="242316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1"/>
          <p:cNvSpPr/>
          <p:nvPr/>
        </p:nvSpPr>
        <p:spPr>
          <a:xfrm>
            <a:off x="1188720" y="3383280"/>
            <a:ext cx="201168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D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react.png" id="383" name="Google Shape;38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6725" y="3446204"/>
            <a:ext cx="1055677" cy="731523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11"/>
          <p:cNvSpPr/>
          <p:nvPr/>
        </p:nvSpPr>
        <p:spPr>
          <a:xfrm>
            <a:off x="3520440" y="3383280"/>
            <a:ext cx="201168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D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ts.png" id="385" name="Google Shape;385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79775" y="3523273"/>
            <a:ext cx="693000" cy="6401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1"/>
          <p:cNvSpPr/>
          <p:nvPr/>
        </p:nvSpPr>
        <p:spPr>
          <a:xfrm>
            <a:off x="1188720" y="4572000"/>
            <a:ext cx="201168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D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expo.png" id="387" name="Google Shape;38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19150" y="4683225"/>
            <a:ext cx="1350801" cy="6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1"/>
          <p:cNvSpPr/>
          <p:nvPr/>
        </p:nvSpPr>
        <p:spPr>
          <a:xfrm>
            <a:off x="3520440" y="4572000"/>
            <a:ext cx="201168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D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npm.png" id="389" name="Google Shape;38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50874" y="4745526"/>
            <a:ext cx="1350800" cy="570341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1"/>
          <p:cNvSpPr/>
          <p:nvPr/>
        </p:nvSpPr>
        <p:spPr>
          <a:xfrm>
            <a:off x="6355080" y="1965960"/>
            <a:ext cx="5074920" cy="3794760"/>
          </a:xfrm>
          <a:prstGeom prst="roundRect">
            <a:avLst>
              <a:gd fmla="val 3855" name="adj"/>
            </a:avLst>
          </a:prstGeom>
          <a:solidFill>
            <a:srgbClr val="F4F4F8"/>
          </a:solidFill>
          <a:ln cap="flat" cmpd="sng" w="12700">
            <a:solidFill>
              <a:srgbClr val="E8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6720840" y="2331720"/>
            <a:ext cx="822960" cy="822960"/>
          </a:xfrm>
          <a:prstGeom prst="ellipse">
            <a:avLst/>
          </a:prstGeom>
          <a:solidFill>
            <a:srgbClr val="1A1A2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erver.png" id="392" name="Google Shape;39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934810" y="2545690"/>
            <a:ext cx="395021" cy="395021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11"/>
          <p:cNvSpPr/>
          <p:nvPr/>
        </p:nvSpPr>
        <p:spPr>
          <a:xfrm>
            <a:off x="7680960" y="2423160"/>
            <a:ext cx="3520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6720840" y="3383280"/>
            <a:ext cx="201168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D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kotlin.png" id="395" name="Google Shape;395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956962" y="3665838"/>
            <a:ext cx="1539446" cy="39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1"/>
          <p:cNvSpPr/>
          <p:nvPr/>
        </p:nvSpPr>
        <p:spPr>
          <a:xfrm>
            <a:off x="9052560" y="3383280"/>
            <a:ext cx="201168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D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spring.png" id="397" name="Google Shape;397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83000" y="3648550"/>
            <a:ext cx="1350802" cy="429603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11"/>
          <p:cNvSpPr/>
          <p:nvPr/>
        </p:nvSpPr>
        <p:spPr>
          <a:xfrm>
            <a:off x="6720840" y="4572000"/>
            <a:ext cx="201168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D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postgres.png" id="399" name="Google Shape;399;p11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98850" y="4689135"/>
            <a:ext cx="1055674" cy="6949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1"/>
          <p:cNvSpPr/>
          <p:nvPr/>
        </p:nvSpPr>
        <p:spPr>
          <a:xfrm>
            <a:off x="9052560" y="4572000"/>
            <a:ext cx="201168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EDED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cloudinary.png" id="401" name="Google Shape;401;p1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9205313" y="4839100"/>
            <a:ext cx="1706172" cy="39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"/>
          <p:cNvSpPr/>
          <p:nvPr/>
        </p:nvSpPr>
        <p:spPr>
          <a:xfrm>
            <a:off x="0" y="5852160"/>
            <a:ext cx="12191695" cy="1005840"/>
          </a:xfrm>
          <a:prstGeom prst="rect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12"/>
          <p:cNvSpPr/>
          <p:nvPr/>
        </p:nvSpPr>
        <p:spPr>
          <a:xfrm>
            <a:off x="4907128" y="1691640"/>
            <a:ext cx="2377440" cy="2377440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1A1A2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preq_logo.png" id="409" name="Google Shape;40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4288" y="1828800"/>
            <a:ext cx="2103120" cy="210312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12"/>
          <p:cNvSpPr/>
          <p:nvPr/>
        </p:nvSpPr>
        <p:spPr>
          <a:xfrm>
            <a:off x="0" y="425196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0" y="5989320"/>
            <a:ext cx="12191695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Veámoslo en acción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f491c0c779_0_59"/>
          <p:cNvSpPr/>
          <p:nvPr/>
        </p:nvSpPr>
        <p:spPr>
          <a:xfrm>
            <a:off x="822960" y="502920"/>
            <a:ext cx="7315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APRENDIZAJES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491c0c779_0_59"/>
          <p:cNvSpPr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 que aprendimos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491c0c779_0_59"/>
          <p:cNvSpPr/>
          <p:nvPr/>
        </p:nvSpPr>
        <p:spPr>
          <a:xfrm>
            <a:off x="822960" y="1481328"/>
            <a:ext cx="1051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A9A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A8A9A"/>
                </a:solidFill>
                <a:latin typeface="Arial"/>
                <a:ea typeface="Arial"/>
                <a:cs typeface="Arial"/>
                <a:sym typeface="Arial"/>
              </a:rPr>
              <a:t>Los dos desafíos que más nos hicieron crecer durante el desarrollo.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491c0c779_0_59"/>
          <p:cNvSpPr/>
          <p:nvPr/>
        </p:nvSpPr>
        <p:spPr>
          <a:xfrm>
            <a:off x="822960" y="2057400"/>
            <a:ext cx="5166300" cy="4160400"/>
          </a:xfrm>
          <a:prstGeom prst="roundRect">
            <a:avLst>
              <a:gd fmla="val 3956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3f491c0c779_0_59"/>
          <p:cNvSpPr/>
          <p:nvPr/>
        </p:nvSpPr>
        <p:spPr>
          <a:xfrm>
            <a:off x="1188720" y="2423160"/>
            <a:ext cx="868800" cy="8688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code.png" id="422" name="Google Shape;422;g3f491c0c779_0_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5890" y="264033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f491c0c779_0_59"/>
          <p:cNvSpPr/>
          <p:nvPr/>
        </p:nvSpPr>
        <p:spPr>
          <a:xfrm>
            <a:off x="2194560" y="2514600"/>
            <a:ext cx="352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FFFFFF"/>
                </a:solidFill>
              </a:rPr>
              <a:t>Soporte de una tecnología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491c0c779_0_59"/>
          <p:cNvSpPr/>
          <p:nvPr/>
        </p:nvSpPr>
        <p:spPr>
          <a:xfrm>
            <a:off x="1207008" y="3520440"/>
            <a:ext cx="443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EL DESAFÍO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g3f491c0c779_0_59"/>
          <p:cNvSpPr/>
          <p:nvPr/>
        </p:nvSpPr>
        <p:spPr>
          <a:xfrm>
            <a:off x="1207008" y="3776472"/>
            <a:ext cx="4389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La mayoría de los modelos de visión están pensados para Python. Integrarlos en un backend Kotlin no </a:t>
            </a:r>
            <a:r>
              <a:rPr lang="en-US" sz="1300">
                <a:solidFill>
                  <a:srgbClr val="E8E8F0"/>
                </a:solidFill>
              </a:rPr>
              <a:t>iba a ser fácil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g3f491c0c779_0_59"/>
          <p:cNvSpPr/>
          <p:nvPr/>
        </p:nvSpPr>
        <p:spPr>
          <a:xfrm>
            <a:off x="1207008" y="4754880"/>
            <a:ext cx="443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LA DECISIÓN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g3f491c0c779_0_59"/>
          <p:cNvSpPr/>
          <p:nvPr/>
        </p:nvSpPr>
        <p:spPr>
          <a:xfrm>
            <a:off x="1207008" y="5010912"/>
            <a:ext cx="438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Evaluamos levantar una API aparte solo en Python para la detección de imágenes, pero terminamos </a:t>
            </a:r>
            <a:r>
              <a:rPr lang="en-US" sz="1300">
                <a:solidFill>
                  <a:srgbClr val="FFFFFF"/>
                </a:solidFill>
              </a:rPr>
              <a:t>resolviendo</a:t>
            </a: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dentro de Kotlin, evitando un servicio extra y su mantenimiento.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g3f491c0c779_0_59"/>
          <p:cNvSpPr/>
          <p:nvPr/>
        </p:nvSpPr>
        <p:spPr>
          <a:xfrm>
            <a:off x="6309360" y="2057400"/>
            <a:ext cx="5166300" cy="4160400"/>
          </a:xfrm>
          <a:prstGeom prst="roundRect">
            <a:avLst>
              <a:gd fmla="val 3956" name="adj"/>
            </a:avLst>
          </a:prstGeom>
          <a:solidFill>
            <a:srgbClr val="24243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g3f491c0c779_0_59"/>
          <p:cNvSpPr/>
          <p:nvPr/>
        </p:nvSpPr>
        <p:spPr>
          <a:xfrm>
            <a:off x="6675120" y="2423160"/>
            <a:ext cx="868800" cy="868800"/>
          </a:xfrm>
          <a:prstGeom prst="ellipse">
            <a:avLst/>
          </a:prstGeom>
          <a:solidFill>
            <a:srgbClr val="D600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icons/shield.png" id="430" name="Google Shape;430;g3f491c0c779_0_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92290" y="2640330"/>
            <a:ext cx="434340" cy="43434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g3f491c0c779_0_59"/>
          <p:cNvSpPr/>
          <p:nvPr/>
        </p:nvSpPr>
        <p:spPr>
          <a:xfrm>
            <a:off x="7680960" y="2514600"/>
            <a:ext cx="3520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Arial"/>
              <a:buNone/>
            </a:pPr>
            <a:r>
              <a:rPr b="1" lang="en-US" sz="1900">
                <a:solidFill>
                  <a:srgbClr val="FFFFFF"/>
                </a:solidFill>
              </a:rPr>
              <a:t>Reglas de negocio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g3f491c0c779_0_59"/>
          <p:cNvSpPr/>
          <p:nvPr/>
        </p:nvSpPr>
        <p:spPr>
          <a:xfrm>
            <a:off x="6693408" y="3520440"/>
            <a:ext cx="443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EL DESAFÍO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f491c0c779_0_59"/>
          <p:cNvSpPr/>
          <p:nvPr/>
        </p:nvSpPr>
        <p:spPr>
          <a:xfrm>
            <a:off x="6693408" y="3776472"/>
            <a:ext cx="43890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8E8F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8E8F0"/>
                </a:solidFill>
                <a:latin typeface="Arial"/>
                <a:ea typeface="Arial"/>
                <a:cs typeface="Arial"/>
                <a:sym typeface="Arial"/>
              </a:rPr>
              <a:t>Que la plataforma se autorregule sin administradores ni personal moderando implica mucha lógica: cada regla tiene que sostenerse sola</a:t>
            </a:r>
            <a:r>
              <a:rPr lang="en-US" sz="1300">
                <a:solidFill>
                  <a:srgbClr val="E8E8F0"/>
                </a:solidFill>
              </a:rPr>
              <a:t> y persistir en el tiempo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g3f491c0c779_0_59"/>
          <p:cNvSpPr/>
          <p:nvPr/>
        </p:nvSpPr>
        <p:spPr>
          <a:xfrm>
            <a:off x="6693408" y="4754880"/>
            <a:ext cx="443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6003C"/>
              </a:buClr>
              <a:buSzPts val="1000"/>
              <a:buFont typeface="Arial"/>
              <a:buNone/>
            </a:pPr>
            <a:r>
              <a:rPr b="1" i="0" lang="en-US" sz="1200" u="none" cap="none" strike="noStrike">
                <a:solidFill>
                  <a:srgbClr val="D6003C"/>
                </a:solidFill>
                <a:latin typeface="Arial"/>
                <a:ea typeface="Arial"/>
                <a:cs typeface="Arial"/>
                <a:sym typeface="Arial"/>
              </a:rPr>
              <a:t>EL APRENDIZAJE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g3f491c0c779_0_59"/>
          <p:cNvSpPr/>
          <p:nvPr/>
        </p:nvSpPr>
        <p:spPr>
          <a:xfrm>
            <a:off x="6693408" y="5010912"/>
            <a:ext cx="4389000" cy="105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Toda decisión necesita documentación detrás y mirar el sistema completo: qué existe hoy y qué lógica se ve afectada antes de sumar un cambio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6003C"/>
        </a:soli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3"/>
          <p:cNvSpPr/>
          <p:nvPr/>
        </p:nvSpPr>
        <p:spPr>
          <a:xfrm>
            <a:off x="5044288" y="1600200"/>
            <a:ext cx="2103120" cy="210312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>
            <a:noFill/>
          </a:ln>
          <a:effectLst>
            <a:outerShdw blurRad="127000" rotWithShape="0" algn="bl" dir="5400000" dist="38100">
              <a:srgbClr val="1A1A2E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ssets/preq_logo.png" id="442" name="Google Shape;44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63160" y="1719072"/>
            <a:ext cx="1865376" cy="1865376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13"/>
          <p:cNvSpPr/>
          <p:nvPr/>
        </p:nvSpPr>
        <p:spPr>
          <a:xfrm>
            <a:off x="0" y="3931920"/>
            <a:ext cx="12191695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¿Preguntas?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0" y="5029200"/>
            <a:ext cx="1219169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DCE3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ADCE3"/>
                </a:solidFill>
                <a:latin typeface="Arial"/>
                <a:ea typeface="Arial"/>
                <a:cs typeface="Arial"/>
                <a:sym typeface="Arial"/>
              </a:rPr>
              <a:t>Gracias · PreQ · Precios colaborativos para todos los argentinos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push dir="r"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2026-07-10T14:04:12Z</dcterms:created>
  <dc:creator>PptxGenJS</dc:creator>
</cp:coreProperties>
</file>