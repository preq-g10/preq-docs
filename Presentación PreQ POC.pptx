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Alfa Slab On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Lucas Alvarez Garci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11" Type="http://schemas.openxmlformats.org/officeDocument/2006/relationships/slide" Target="slides/slide5.xml"/><Relationship Id="rId22" Type="http://schemas.openxmlformats.org/officeDocument/2006/relationships/font" Target="fonts/ProximaNova-boldItalic.fntdata"/><Relationship Id="rId10" Type="http://schemas.openxmlformats.org/officeDocument/2006/relationships/slide" Target="slides/slide4.xml"/><Relationship Id="rId21" Type="http://schemas.openxmlformats.org/officeDocument/2006/relationships/font" Target="fonts/ProximaNova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AlfaSlabOn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roximaNova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5T03:56:16.341">
    <p:pos x="6000" y="0"/>
    <p:text>Los principales usuarios de ésta aplicación van a ser:
Las personas que quieran evitar pagar más por productos de uso diario.
Quienes tengan un presupuesto limitado y son sensibles a los cambios de precio.
Negocios pequeños que quieran competir y dar visibilidad a sus precios.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4-25T03:18:39.841">
    <p:pos x="6000" y="0"/>
    <p:text>Casos de uso:
1- Un usuario puede escanear un producto, ver los precios de éste para compararlos y encontrar el menor de ellos o el mas cercano con mejor precio
2- Un usuario puede escanear un producto para colaborar con un nuevo precio en un negocio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7b331770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7b331770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4687bdc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4687bdc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7b331770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7b331770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7b3317706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7b3317706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94687bdc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94687bdc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4687bdc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94687bdc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94687bdc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94687bdc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7b331770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7b331770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7b3317706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7b3317706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7b3317706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7b3317706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94687bdc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94687bdc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2.png"/><Relationship Id="rId5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2.xml"/><Relationship Id="rId4" Type="http://schemas.openxmlformats.org/officeDocument/2006/relationships/image" Target="../media/image13.png"/><Relationship Id="rId11" Type="http://schemas.openxmlformats.org/officeDocument/2006/relationships/image" Target="../media/image26.png"/><Relationship Id="rId10" Type="http://schemas.openxmlformats.org/officeDocument/2006/relationships/image" Target="../media/image24.jpg"/><Relationship Id="rId9" Type="http://schemas.openxmlformats.org/officeDocument/2006/relationships/image" Target="../media/image16.png"/><Relationship Id="rId5" Type="http://schemas.openxmlformats.org/officeDocument/2006/relationships/image" Target="../media/image8.jp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Relationship Id="rId10" Type="http://schemas.openxmlformats.org/officeDocument/2006/relationships/image" Target="../media/image21.png"/><Relationship Id="rId9" Type="http://schemas.openxmlformats.org/officeDocument/2006/relationships/image" Target="../media/image33.png"/><Relationship Id="rId5" Type="http://schemas.openxmlformats.org/officeDocument/2006/relationships/image" Target="../media/image31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688" y="3496686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666666"/>
                </a:solidFill>
              </a:rPr>
              <a:t>Seguimiento colaborativo de precios en Argentina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57" name="Google Shape;57;p13" title="preq-logo.png"/>
          <p:cNvPicPr preferRelativeResize="0"/>
          <p:nvPr/>
        </p:nvPicPr>
        <p:blipFill rotWithShape="1">
          <a:blip r:embed="rId3">
            <a:alphaModFix/>
          </a:blip>
          <a:srcRect b="36329" l="18409" r="16723" t="32742"/>
          <a:stretch/>
        </p:blipFill>
        <p:spPr>
          <a:xfrm>
            <a:off x="1929125" y="913313"/>
            <a:ext cx="5285775" cy="252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72350" y="136000"/>
            <a:ext cx="2069956" cy="7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31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</a:rPr>
              <a:t>Motivación</a:t>
            </a:r>
            <a:endParaRPr>
              <a:solidFill>
                <a:srgbClr val="D80148"/>
              </a:solidFill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938625"/>
            <a:ext cx="8520600" cy="19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s-419">
                <a:solidFill>
                  <a:srgbClr val="666666"/>
                </a:solidFill>
              </a:rPr>
              <a:t>Todo el tiempo nos perdemos descuentos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s-419">
                <a:solidFill>
                  <a:srgbClr val="666666"/>
                </a:solidFill>
              </a:rPr>
              <a:t>En general no tenemos tiempo para comprar precios entre </a:t>
            </a:r>
            <a:r>
              <a:rPr lang="es-419">
                <a:solidFill>
                  <a:srgbClr val="666666"/>
                </a:solidFill>
              </a:rPr>
              <a:t>múltiples</a:t>
            </a:r>
            <a:r>
              <a:rPr lang="es-419">
                <a:solidFill>
                  <a:srgbClr val="666666"/>
                </a:solidFill>
              </a:rPr>
              <a:t> tiendas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s-419">
                <a:solidFill>
                  <a:srgbClr val="666666"/>
                </a:solidFill>
              </a:rPr>
              <a:t>Nunca terminamos de saber si una oferta realmente vale la pena comparado a otras alternativas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s-419">
                <a:solidFill>
                  <a:srgbClr val="666666"/>
                </a:solidFill>
              </a:rPr>
              <a:t>Comparar precios manualmente es lento y frustrante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2918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</a:rPr>
              <a:t>¿</a:t>
            </a:r>
            <a:r>
              <a:rPr lang="es-419">
                <a:solidFill>
                  <a:srgbClr val="D80148"/>
                </a:solidFill>
              </a:rPr>
              <a:t>Qué</a:t>
            </a:r>
            <a:r>
              <a:rPr lang="es-419">
                <a:solidFill>
                  <a:srgbClr val="D80148"/>
                </a:solidFill>
              </a:rPr>
              <a:t> hay de nuevo?</a:t>
            </a:r>
            <a:endParaRPr>
              <a:solidFill>
                <a:srgbClr val="D80148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3626375"/>
            <a:ext cx="8520600" cy="11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>
                <a:solidFill>
                  <a:srgbClr val="666666"/>
                </a:solidFill>
              </a:rPr>
              <a:t>A diferencia de otras aplicaciones, PreQ permite a los usuarios tomar fotos de productos para identificarlos y colaborar con los precios en ubicaciones específicas.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281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</a:rPr>
              <a:t>¿Qué hay de nuevo? - Competencia</a:t>
            </a:r>
            <a:endParaRPr/>
          </a:p>
        </p:txBody>
      </p:sp>
      <p:pic>
        <p:nvPicPr>
          <p:cNvPr id="72" name="Google Shape;72;p15" title="Screenshot 2026-04-25 at 12.42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388" y="978597"/>
            <a:ext cx="1634825" cy="759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542425" y="1863082"/>
            <a:ext cx="38241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Ahorrá (pero pagá…)</a:t>
            </a:r>
            <a:endParaRPr sz="16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Alto porcentaje de productos no formalizados (sin código de barras)</a:t>
            </a:r>
            <a:endParaRPr sz="16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Features innecesarios</a:t>
            </a:r>
            <a:endParaRPr sz="16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Sin colaboración de la comunidad</a:t>
            </a:r>
            <a:endParaRPr sz="16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813150" y="1863068"/>
            <a:ext cx="38241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Busqueda 100% manual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Cadenas de supermercados grandes unicamente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Falta de features importantes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Sin colaboración de la comunidad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7625" y="978597"/>
            <a:ext cx="775150" cy="75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Screenshot 2026-04-25 at 12.53.33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6625" y="3802860"/>
            <a:ext cx="6890750" cy="9949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5"/>
          <p:cNvCxnSpPr/>
          <p:nvPr/>
        </p:nvCxnSpPr>
        <p:spPr>
          <a:xfrm flipH="1" rot="10800000">
            <a:off x="600750" y="3530064"/>
            <a:ext cx="7942500" cy="9000"/>
          </a:xfrm>
          <a:prstGeom prst="straightConnector1">
            <a:avLst/>
          </a:prstGeom>
          <a:noFill/>
          <a:ln cap="flat" cmpd="sng" w="19050">
            <a:solidFill>
              <a:srgbClr val="D80148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14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</a:rPr>
              <a:t>Nuestros usuarios</a:t>
            </a:r>
            <a:endParaRPr>
              <a:solidFill>
                <a:srgbClr val="D80148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388650" y="1224775"/>
            <a:ext cx="236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5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Presupuesto</a:t>
            </a:r>
            <a:r>
              <a:rPr b="1" lang="es-419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-419" sz="15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limitado</a:t>
            </a:r>
            <a:endParaRPr b="1"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11700" y="1224775"/>
            <a:ext cx="236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Consumidores</a:t>
            </a:r>
            <a:endParaRPr b="1"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6465600" y="1224775"/>
            <a:ext cx="236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5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Negocios</a:t>
            </a:r>
            <a:r>
              <a:rPr b="1" lang="es-419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-419" sz="15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pequeños</a:t>
            </a:r>
            <a:endParaRPr b="1"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11700" y="3614775"/>
            <a:ext cx="236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Evitan pagar de más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7" name="Google Shape;87;p16" title="14139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325" y="1826025"/>
            <a:ext cx="1491450" cy="149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3388650" y="3614775"/>
            <a:ext cx="236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Sensibles a cambios de precios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6465600" y="3614775"/>
            <a:ext cx="236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Buscan visibilidad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0" name="Google Shape;90;p16" title="1948308-2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9400" y="1769150"/>
            <a:ext cx="1605200" cy="16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shop-market-store-simple-colorful-logo-vector-icon-illustration-design_15473-723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1600" y="1815500"/>
            <a:ext cx="1474688" cy="15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257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</a:rPr>
              <a:t>Licenciamiento tentativo</a:t>
            </a:r>
            <a:endParaRPr>
              <a:solidFill>
                <a:srgbClr val="D80148"/>
              </a:solidFill>
            </a:endParaRPr>
          </a:p>
        </p:txBody>
      </p:sp>
      <p:pic>
        <p:nvPicPr>
          <p:cNvPr id="97" name="Google Shape;97;p17" title="License_icon-mit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2760" y="1231650"/>
            <a:ext cx="3118474" cy="311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169075" y="275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</a:rPr>
              <a:t>Reconocimiento de productos</a:t>
            </a:r>
            <a:endParaRPr>
              <a:solidFill>
                <a:srgbClr val="D80148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169072" y="1167725"/>
            <a:ext cx="2933100" cy="3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Oportunidades:</a:t>
            </a:r>
            <a:endParaRPr b="1"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Codigo de barras dañado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Producto artesanal, pero con nombre y marca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600"/>
              <a:buFont typeface="Proxima Nova"/>
              <a:buChar char="●"/>
            </a:pPr>
            <a:r>
              <a:rPr lang="es-419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Expansión a otros rubros (Farmacéutica, librería, etc.)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4" name="Google Shape;104;p18" title="output 10.48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0722" y="1907546"/>
            <a:ext cx="539170" cy="20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 title="test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3097" y="1952250"/>
            <a:ext cx="1511026" cy="201468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>
            <p:ph type="title"/>
          </p:nvPr>
        </p:nvSpPr>
        <p:spPr>
          <a:xfrm>
            <a:off x="6899597" y="2794163"/>
            <a:ext cx="21573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80148"/>
                </a:solidFill>
              </a:rPr>
              <a:t>[-0.63, 1.00, 0.23, …]</a:t>
            </a:r>
            <a:endParaRPr sz="1500">
              <a:solidFill>
                <a:srgbClr val="D80148"/>
              </a:solidFill>
            </a:endParaRPr>
          </a:p>
        </p:txBody>
      </p:sp>
      <p:cxnSp>
        <p:nvCxnSpPr>
          <p:cNvPr id="107" name="Google Shape;107;p18"/>
          <p:cNvCxnSpPr/>
          <p:nvPr/>
        </p:nvCxnSpPr>
        <p:spPr>
          <a:xfrm>
            <a:off x="5342925" y="1426283"/>
            <a:ext cx="9000" cy="2977200"/>
          </a:xfrm>
          <a:prstGeom prst="straightConnector1">
            <a:avLst/>
          </a:prstGeom>
          <a:noFill/>
          <a:ln cap="flat" cmpd="sng" w="9525">
            <a:solidFill>
              <a:srgbClr val="D80148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8"/>
          <p:cNvCxnSpPr/>
          <p:nvPr/>
        </p:nvCxnSpPr>
        <p:spPr>
          <a:xfrm>
            <a:off x="6708700" y="1426275"/>
            <a:ext cx="9000" cy="2977200"/>
          </a:xfrm>
          <a:prstGeom prst="straightConnector1">
            <a:avLst/>
          </a:prstGeom>
          <a:noFill/>
          <a:ln cap="flat" cmpd="sng" w="9525">
            <a:solidFill>
              <a:srgbClr val="D80148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8"/>
          <p:cNvCxnSpPr/>
          <p:nvPr/>
        </p:nvCxnSpPr>
        <p:spPr>
          <a:xfrm>
            <a:off x="5179150" y="3013013"/>
            <a:ext cx="383400" cy="0"/>
          </a:xfrm>
          <a:prstGeom prst="straightConnector1">
            <a:avLst/>
          </a:prstGeom>
          <a:noFill/>
          <a:ln cap="flat" cmpd="sng" w="19050">
            <a:solidFill>
              <a:srgbClr val="D80148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" name="Google Shape;110;p18"/>
          <p:cNvCxnSpPr/>
          <p:nvPr/>
        </p:nvCxnSpPr>
        <p:spPr>
          <a:xfrm>
            <a:off x="6516200" y="3013013"/>
            <a:ext cx="383400" cy="0"/>
          </a:xfrm>
          <a:prstGeom prst="straightConnector1">
            <a:avLst/>
          </a:prstGeom>
          <a:noFill/>
          <a:ln cap="flat" cmpd="sng" w="19050">
            <a:solidFill>
              <a:srgbClr val="D80148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1" name="Google Shape;111;p18"/>
          <p:cNvSpPr txBox="1"/>
          <p:nvPr/>
        </p:nvSpPr>
        <p:spPr>
          <a:xfrm>
            <a:off x="3532263" y="4510600"/>
            <a:ext cx="129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Input</a:t>
            </a:r>
            <a:endParaRPr sz="1600">
              <a:solidFill>
                <a:srgbClr val="D80148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5383963" y="4510600"/>
            <a:ext cx="129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Limpieza</a:t>
            </a:r>
            <a:endParaRPr sz="1600">
              <a:solidFill>
                <a:srgbClr val="D80148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7222700" y="4510600"/>
            <a:ext cx="151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Traducción</a:t>
            </a:r>
            <a:endParaRPr sz="1600">
              <a:solidFill>
                <a:srgbClr val="D80148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cxnSp>
        <p:nvCxnSpPr>
          <p:cNvPr id="114" name="Google Shape;114;p18"/>
          <p:cNvCxnSpPr/>
          <p:nvPr/>
        </p:nvCxnSpPr>
        <p:spPr>
          <a:xfrm rot="10800000">
            <a:off x="7871222" y="1675763"/>
            <a:ext cx="6300" cy="1118400"/>
          </a:xfrm>
          <a:prstGeom prst="straightConnector1">
            <a:avLst/>
          </a:prstGeom>
          <a:noFill/>
          <a:ln cap="flat" cmpd="sng" w="19050">
            <a:solidFill>
              <a:srgbClr val="D80148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5" name="Google Shape;115;p18"/>
          <p:cNvSpPr/>
          <p:nvPr/>
        </p:nvSpPr>
        <p:spPr>
          <a:xfrm>
            <a:off x="7044125" y="2124125"/>
            <a:ext cx="16758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Comparación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6" name="Google Shape;116;p18"/>
          <p:cNvSpPr txBox="1"/>
          <p:nvPr>
            <p:ph type="title"/>
          </p:nvPr>
        </p:nvSpPr>
        <p:spPr>
          <a:xfrm>
            <a:off x="6795722" y="1238063"/>
            <a:ext cx="2157300" cy="4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D80148"/>
                </a:solidFill>
              </a:rPr>
              <a:t>?</a:t>
            </a:r>
            <a:endParaRPr sz="1100">
              <a:solidFill>
                <a:srgbClr val="D8014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D80148"/>
                </a:solidFill>
              </a:rPr>
              <a:t>[0.11, -0.97, 0.71, …]</a:t>
            </a:r>
            <a:endParaRPr sz="1100">
              <a:solidFill>
                <a:srgbClr val="D8014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186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</a:rPr>
              <a:t>Comparación y carritos</a:t>
            </a:r>
            <a:endParaRPr>
              <a:solidFill>
                <a:srgbClr val="D80148"/>
              </a:solidFill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24" y="3053402"/>
            <a:ext cx="510079" cy="510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424" y="3699521"/>
            <a:ext cx="510079" cy="510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424" y="4345640"/>
            <a:ext cx="510079" cy="510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5123" y="3663044"/>
            <a:ext cx="583033" cy="58303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855361" y="3144817"/>
            <a:ext cx="944076" cy="575710"/>
          </a:xfrm>
          <a:custGeom>
            <a:rect b="b" l="l" r="r" t="t"/>
            <a:pathLst>
              <a:path extrusionOk="0" h="33766" w="55371">
                <a:moveTo>
                  <a:pt x="0" y="4527"/>
                </a:moveTo>
                <a:cubicBezTo>
                  <a:pt x="6474" y="17456"/>
                  <a:pt x="28856" y="15529"/>
                  <a:pt x="42788" y="11659"/>
                </a:cubicBezTo>
                <a:cubicBezTo>
                  <a:pt x="47648" y="10309"/>
                  <a:pt x="56096" y="8077"/>
                  <a:pt x="55268" y="3101"/>
                </a:cubicBezTo>
                <a:cubicBezTo>
                  <a:pt x="53946" y="-4845"/>
                  <a:pt x="35353" y="4373"/>
                  <a:pt x="32805" y="12015"/>
                </a:cubicBezTo>
                <a:cubicBezTo>
                  <a:pt x="31152" y="16972"/>
                  <a:pt x="33425" y="23646"/>
                  <a:pt x="37440" y="26991"/>
                </a:cubicBezTo>
                <a:cubicBezTo>
                  <a:pt x="41484" y="30360"/>
                  <a:pt x="46997" y="31409"/>
                  <a:pt x="51703" y="33766"/>
                </a:cubicBezTo>
              </a:path>
            </a:pathLst>
          </a:custGeom>
          <a:noFill/>
          <a:ln cap="flat" cmpd="sng" w="129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7" name="Google Shape;127;p19"/>
          <p:cNvSpPr/>
          <p:nvPr/>
        </p:nvSpPr>
        <p:spPr>
          <a:xfrm>
            <a:off x="934402" y="3976543"/>
            <a:ext cx="832875" cy="208931"/>
          </a:xfrm>
          <a:custGeom>
            <a:rect b="b" l="l" r="r" t="t"/>
            <a:pathLst>
              <a:path extrusionOk="0" h="12254" w="48849">
                <a:moveTo>
                  <a:pt x="0" y="5307"/>
                </a:moveTo>
                <a:cubicBezTo>
                  <a:pt x="4829" y="1443"/>
                  <a:pt x="14168" y="1647"/>
                  <a:pt x="18541" y="6020"/>
                </a:cubicBezTo>
                <a:cubicBezTo>
                  <a:pt x="21513" y="8992"/>
                  <a:pt x="25450" y="12772"/>
                  <a:pt x="29595" y="12082"/>
                </a:cubicBezTo>
                <a:cubicBezTo>
                  <a:pt x="33081" y="11502"/>
                  <a:pt x="34472" y="5379"/>
                  <a:pt x="33160" y="2098"/>
                </a:cubicBezTo>
                <a:cubicBezTo>
                  <a:pt x="32317" y="-10"/>
                  <a:pt x="26386" y="-885"/>
                  <a:pt x="26386" y="1385"/>
                </a:cubicBezTo>
                <a:cubicBezTo>
                  <a:pt x="26386" y="8881"/>
                  <a:pt x="42142" y="5804"/>
                  <a:pt x="48849" y="2455"/>
                </a:cubicBezTo>
              </a:path>
            </a:pathLst>
          </a:custGeom>
          <a:noFill/>
          <a:ln cap="flat" cmpd="sng" w="129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8" name="Google Shape;128;p19"/>
          <p:cNvSpPr/>
          <p:nvPr/>
        </p:nvSpPr>
        <p:spPr>
          <a:xfrm>
            <a:off x="976957" y="4267639"/>
            <a:ext cx="845049" cy="395168"/>
          </a:xfrm>
          <a:custGeom>
            <a:rect b="b" l="l" r="r" t="t"/>
            <a:pathLst>
              <a:path extrusionOk="0" h="23177" w="49563">
                <a:moveTo>
                  <a:pt x="0" y="23177"/>
                </a:moveTo>
                <a:cubicBezTo>
                  <a:pt x="11142" y="17606"/>
                  <a:pt x="23599" y="14226"/>
                  <a:pt x="36013" y="13193"/>
                </a:cubicBezTo>
                <a:cubicBezTo>
                  <a:pt x="39687" y="12887"/>
                  <a:pt x="46353" y="13429"/>
                  <a:pt x="46353" y="17115"/>
                </a:cubicBezTo>
                <a:cubicBezTo>
                  <a:pt x="46353" y="21519"/>
                  <a:pt x="33885" y="20746"/>
                  <a:pt x="33160" y="16402"/>
                </a:cubicBezTo>
                <a:cubicBezTo>
                  <a:pt x="31887" y="8775"/>
                  <a:pt x="42647" y="3458"/>
                  <a:pt x="49563" y="0"/>
                </a:cubicBezTo>
              </a:path>
            </a:pathLst>
          </a:custGeom>
          <a:noFill/>
          <a:ln cap="flat" cmpd="sng" w="129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" name="Google Shape;129;p19"/>
          <p:cNvSpPr/>
          <p:nvPr/>
        </p:nvSpPr>
        <p:spPr>
          <a:xfrm>
            <a:off x="2156330" y="3495576"/>
            <a:ext cx="206700" cy="2091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62350" lIns="62350" spcFirstLastPara="1" rIns="62350" wrap="square" tIns="62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5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48626" y="3520613"/>
            <a:ext cx="831458" cy="8314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19"/>
          <p:cNvCxnSpPr/>
          <p:nvPr/>
        </p:nvCxnSpPr>
        <p:spPr>
          <a:xfrm>
            <a:off x="2630507" y="3933284"/>
            <a:ext cx="596100" cy="6300"/>
          </a:xfrm>
          <a:prstGeom prst="straightConnector1">
            <a:avLst/>
          </a:prstGeom>
          <a:noFill/>
          <a:ln cap="flat" cmpd="sng" w="129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19"/>
          <p:cNvSpPr txBox="1"/>
          <p:nvPr/>
        </p:nvSpPr>
        <p:spPr>
          <a:xfrm>
            <a:off x="258196" y="842250"/>
            <a:ext cx="4260300" cy="20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25" lIns="89325" spcFirstLastPara="1" rIns="89325" wrap="square" tIns="8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Modo carrito</a:t>
            </a:r>
            <a:endParaRPr b="1" sz="1563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2657" lvl="0" marL="446756" rtl="0" algn="l">
              <a:lnSpc>
                <a:spcPct val="100000"/>
              </a:lnSpc>
              <a:spcBef>
                <a:spcPts val="977"/>
              </a:spcBef>
              <a:spcAft>
                <a:spcPts val="0"/>
              </a:spcAft>
              <a:buClr>
                <a:schemeClr val="dk2"/>
              </a:buClr>
              <a:buSzPts val="1563"/>
              <a:buFont typeface="Proxima Nova"/>
              <a:buAutoNum type="arabicPeriod"/>
            </a:pPr>
            <a:r>
              <a:rPr b="1"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Armá tu carrito</a:t>
            </a:r>
            <a:r>
              <a:rPr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: Seleccioná los productos</a:t>
            </a:r>
            <a:endParaRPr sz="1563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2657" lvl="0" marL="4467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3"/>
              <a:buFont typeface="Proxima Nova"/>
              <a:buAutoNum type="arabicPeriod"/>
            </a:pPr>
            <a:r>
              <a:rPr b="1"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Observá</a:t>
            </a:r>
            <a:r>
              <a:rPr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: Compará la distribución de precios por ubicación</a:t>
            </a:r>
            <a:endParaRPr sz="1563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2657" lvl="0" marL="4467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3"/>
              <a:buFont typeface="Proxima Nova"/>
              <a:buAutoNum type="arabicPeriod"/>
            </a:pPr>
            <a:r>
              <a:rPr b="1"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Comprá</a:t>
            </a:r>
            <a:r>
              <a:rPr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: Conserva la lista y comproba tu ahorro</a:t>
            </a:r>
            <a:endParaRPr sz="1563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5035300" y="860078"/>
            <a:ext cx="3754200" cy="20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25" lIns="89325" spcFirstLastPara="1" rIns="89325" wrap="square" tIns="89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Modo individual</a:t>
            </a:r>
            <a:endParaRPr b="1" sz="1563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2657" lvl="0" marL="446756" rtl="0" algn="l">
              <a:lnSpc>
                <a:spcPct val="100000"/>
              </a:lnSpc>
              <a:spcBef>
                <a:spcPts val="977"/>
              </a:spcBef>
              <a:spcAft>
                <a:spcPts val="0"/>
              </a:spcAft>
              <a:buClr>
                <a:schemeClr val="dk2"/>
              </a:buClr>
              <a:buSzPts val="1563"/>
              <a:buFont typeface="Proxima Nova"/>
              <a:buAutoNum type="arabicPeriod"/>
            </a:pPr>
            <a:r>
              <a:rPr b="1"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Detectá: </a:t>
            </a:r>
            <a:r>
              <a:rPr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Elegí como detectar un producto</a:t>
            </a:r>
            <a:endParaRPr sz="1563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2657" lvl="0" marL="44675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3"/>
              <a:buFont typeface="Proxima Nova"/>
              <a:buAutoNum type="arabicPeriod"/>
            </a:pPr>
            <a:r>
              <a:rPr b="1"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Analizá</a:t>
            </a:r>
            <a:r>
              <a:rPr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: Obtene un detalle de los precios:</a:t>
            </a:r>
            <a:endParaRPr sz="1563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2658" lvl="1" marL="8935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3"/>
              <a:buFont typeface="Proxima Nova"/>
              <a:buAutoNum type="alphaLcPeriod"/>
            </a:pPr>
            <a:r>
              <a:rPr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Por mapa de calor</a:t>
            </a:r>
            <a:endParaRPr sz="1563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2658" lvl="1" marL="8935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63"/>
              <a:buFont typeface="Proxima Nova"/>
              <a:buAutoNum type="alphaLcPeriod"/>
            </a:pPr>
            <a:r>
              <a:rPr lang="es-419" sz="1563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Por reporte detallado</a:t>
            </a:r>
            <a:endParaRPr sz="1563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66376" y="3415200"/>
            <a:ext cx="1069250" cy="10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89175" y="3388274"/>
            <a:ext cx="1069250" cy="10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311700" y="133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</a:rPr>
              <a:t>Desafíos</a:t>
            </a:r>
            <a:r>
              <a:rPr lang="es-419">
                <a:solidFill>
                  <a:srgbClr val="D80148"/>
                </a:solidFill>
              </a:rPr>
              <a:t> y </a:t>
            </a:r>
            <a:r>
              <a:rPr lang="es-419">
                <a:solidFill>
                  <a:srgbClr val="D80148"/>
                </a:solidFill>
              </a:rPr>
              <a:t>obstáculos</a:t>
            </a:r>
            <a:endParaRPr>
              <a:solidFill>
                <a:srgbClr val="D80148"/>
              </a:solidFill>
            </a:endParaRPr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0436" y="527464"/>
            <a:ext cx="3913500" cy="8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0148"/>
              </a:buClr>
              <a:buSzPts val="1800"/>
              <a:buFont typeface="Alfa Slab One"/>
              <a:buAutoNum type="arabicPeriod"/>
            </a:pPr>
            <a:r>
              <a:rPr lang="es-419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Reportes fraudulentos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50440" y="1073102"/>
            <a:ext cx="3975900" cy="17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Escenario</a:t>
            </a:r>
            <a:b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Negocios alterando reportes</a:t>
            </a:r>
            <a:endParaRPr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Impacto</a:t>
            </a:r>
            <a:b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Pérdida de confianza</a:t>
            </a:r>
            <a:endParaRPr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Posible solución</a:t>
            </a:r>
            <a:b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Controles estrictos de ubicación y reportes</a:t>
            </a:r>
            <a:endParaRPr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5028170" y="1347325"/>
            <a:ext cx="3913500" cy="8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 2.   Falta de colaboración</a:t>
            </a:r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5028170" y="1892973"/>
            <a:ext cx="39759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Escenario</a:t>
            </a:r>
            <a:b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Usuarios sin reportar precios</a:t>
            </a:r>
            <a:endParaRPr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Impacto</a:t>
            </a:r>
            <a:b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Reportes desactualizados</a:t>
            </a:r>
            <a:endParaRPr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Posible s</a:t>
            </a: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olución</a:t>
            </a:r>
            <a:b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Notificaciones y reportes rápidos</a:t>
            </a:r>
            <a:endParaRPr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561289" y="2571741"/>
            <a:ext cx="3913500" cy="8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  3.   Solución gratuita</a:t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668264" y="3117389"/>
            <a:ext cx="39759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Escenario</a:t>
            </a:r>
            <a:b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Falta de fondos para sostener la solución</a:t>
            </a:r>
            <a:endParaRPr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Impacto</a:t>
            </a:r>
            <a:b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Fallos y posible disolución</a:t>
            </a:r>
            <a:endParaRPr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Posible s</a:t>
            </a:r>
            <a: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olución</a:t>
            </a:r>
            <a:br>
              <a:rPr b="1"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s-419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Anuncios de mercados/productos para ganar visibilidad</a:t>
            </a:r>
            <a:endParaRPr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</a:rPr>
              <a:t>Casos de uso</a:t>
            </a:r>
            <a:endParaRPr>
              <a:solidFill>
                <a:srgbClr val="D80148"/>
              </a:solidFill>
            </a:endParaRPr>
          </a:p>
        </p:txBody>
      </p:sp>
      <p:pic>
        <p:nvPicPr>
          <p:cNvPr id="152" name="Google Shape;152;p21" title="328059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541700"/>
            <a:ext cx="1022775" cy="102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row (proporcionada por Getty Images)" id="153" name="Google Shape;15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1603463" y="1814813"/>
            <a:ext cx="476549" cy="47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 title="1251491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7950" y="1264613"/>
            <a:ext cx="1576950" cy="15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row (proporcionada por Getty Images)" id="155" name="Google Shape;15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194950" y="1814813"/>
            <a:ext cx="476549" cy="47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1" title="932178-20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0325" y="1275937"/>
            <a:ext cx="1554300" cy="155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row (proporcionada por Getty Images)" id="157" name="Google Shape;15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6801350" y="1814801"/>
            <a:ext cx="476549" cy="47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 title="1926256-20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96225" y="4253177"/>
            <a:ext cx="718575" cy="7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 title="money-icon-8057539-512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42350" y="2996805"/>
            <a:ext cx="1426350" cy="142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row (proporcionada por Getty Images)" id="160" name="Google Shape;16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899200" y="2841538"/>
            <a:ext cx="476549" cy="476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p solid icon, Black Friday concept, Marketplace sign on white background, store building icon in glyph style for mobile concept and web design. Vector graphics. (proporcionada por Getty Images)" id="161" name="Google Shape;161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76775" y="3881001"/>
            <a:ext cx="981448" cy="981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 title="637398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51850" y="1462846"/>
            <a:ext cx="1180451" cy="11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80148"/>
                </a:solidFill>
              </a:rPr>
              <a:t>Tecnologías</a:t>
            </a:r>
            <a:endParaRPr>
              <a:solidFill>
                <a:srgbClr val="D80148"/>
              </a:solidFill>
            </a:endParaRPr>
          </a:p>
        </p:txBody>
      </p:sp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1333238" y="4282500"/>
            <a:ext cx="1881900" cy="5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-419" sz="20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Frontend</a:t>
            </a:r>
            <a:endParaRPr sz="1160"/>
          </a:p>
        </p:txBody>
      </p:sp>
      <p:pic>
        <p:nvPicPr>
          <p:cNvPr id="169" name="Google Shape;169;p22" title="react-native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876" y="1759875"/>
            <a:ext cx="1303977" cy="104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 title="Kotlin_logo_(2016-2021)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8128" y="1251626"/>
            <a:ext cx="2282749" cy="50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 title="Spring-Boot-Logo-Vector.svg-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5154" y="2260250"/>
            <a:ext cx="1977145" cy="50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 title="expo@logotyp.us.png"/>
          <p:cNvPicPr preferRelativeResize="0"/>
          <p:nvPr/>
        </p:nvPicPr>
        <p:blipFill rotWithShape="1">
          <a:blip r:embed="rId6">
            <a:alphaModFix/>
          </a:blip>
          <a:srcRect b="34264" l="14856" r="15296" t="32464"/>
          <a:stretch/>
        </p:blipFill>
        <p:spPr>
          <a:xfrm>
            <a:off x="2454000" y="2522888"/>
            <a:ext cx="829350" cy="28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 title="Typescript_logo_2020.sv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92738" y="1680400"/>
            <a:ext cx="436025" cy="43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 title="Npm-logo.sv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68200" y="3265007"/>
            <a:ext cx="829350" cy="322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2" title="Postgresql_elephant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9925" y="2260248"/>
            <a:ext cx="870550" cy="89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 title="Cloudinary_logo_blue_0720_2x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15475" y="3287604"/>
            <a:ext cx="2454950" cy="47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5560463" y="4282500"/>
            <a:ext cx="1881900" cy="5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-419" sz="2000">
                <a:solidFill>
                  <a:srgbClr val="D80148"/>
                </a:solidFill>
                <a:latin typeface="Alfa Slab One"/>
                <a:ea typeface="Alfa Slab One"/>
                <a:cs typeface="Alfa Slab One"/>
                <a:sym typeface="Alfa Slab One"/>
              </a:rPr>
              <a:t>Backend</a:t>
            </a:r>
            <a:endParaRPr sz="116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311700" y="1743000"/>
            <a:ext cx="8520600" cy="16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D80148"/>
                </a:solidFill>
              </a:rPr>
              <a:t>Demo</a:t>
            </a:r>
            <a:endParaRPr sz="9600">
              <a:solidFill>
                <a:srgbClr val="D80148"/>
              </a:solidFill>
            </a:endParaRPr>
          </a:p>
        </p:txBody>
      </p:sp>
      <p:pic>
        <p:nvPicPr>
          <p:cNvPr id="183" name="Google Shape;183;p23" title="preq-logo.png"/>
          <p:cNvPicPr preferRelativeResize="0"/>
          <p:nvPr/>
        </p:nvPicPr>
        <p:blipFill rotWithShape="1">
          <a:blip r:embed="rId3">
            <a:alphaModFix/>
          </a:blip>
          <a:srcRect b="36329" l="18409" r="16723" t="32742"/>
          <a:stretch/>
        </p:blipFill>
        <p:spPr>
          <a:xfrm>
            <a:off x="3438348" y="735049"/>
            <a:ext cx="2267325" cy="10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311700" y="1743000"/>
            <a:ext cx="8520600" cy="16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D80148"/>
                </a:solidFill>
              </a:rPr>
              <a:t>Preguntas?</a:t>
            </a:r>
            <a:endParaRPr sz="9600">
              <a:solidFill>
                <a:srgbClr val="D80148"/>
              </a:solidFill>
            </a:endParaRPr>
          </a:p>
        </p:txBody>
      </p:sp>
      <p:pic>
        <p:nvPicPr>
          <p:cNvPr id="189" name="Google Shape;189;p24" title="preq-logo.png"/>
          <p:cNvPicPr preferRelativeResize="0"/>
          <p:nvPr/>
        </p:nvPicPr>
        <p:blipFill rotWithShape="1">
          <a:blip r:embed="rId3">
            <a:alphaModFix/>
          </a:blip>
          <a:srcRect b="36329" l="18409" r="16723" t="32742"/>
          <a:stretch/>
        </p:blipFill>
        <p:spPr>
          <a:xfrm>
            <a:off x="3438348" y="735049"/>
            <a:ext cx="2267325" cy="10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